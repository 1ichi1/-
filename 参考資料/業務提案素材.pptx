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59" r:id="rId6"/>
    <p:sldId id="263" r:id="rId7"/>
    <p:sldId id="265" r:id="rId8"/>
    <p:sldId id="266" r:id="rId9"/>
    <p:sldId id="268" r:id="rId10"/>
    <p:sldId id="269" r:id="rId11"/>
    <p:sldId id="267" r:id="rId12"/>
    <p:sldId id="271" r:id="rId13"/>
    <p:sldId id="272" r:id="rId14"/>
    <p:sldId id="270" r:id="rId15"/>
    <p:sldId id="274" r:id="rId16"/>
    <p:sldId id="275" r:id="rId17"/>
    <p:sldId id="276" r:id="rId18"/>
    <p:sldId id="273" r:id="rId19"/>
    <p:sldId id="26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1B9"/>
    <a:srgbClr val="252430"/>
    <a:srgbClr val="18171F"/>
    <a:srgbClr val="F1F1F5"/>
    <a:srgbClr val="D6D5E3"/>
    <a:srgbClr val="B5B4CC"/>
    <a:srgbClr val="F95F01"/>
    <a:srgbClr val="61A1B3"/>
    <a:srgbClr val="F7AB03"/>
    <a:srgbClr val="99C3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271D1-51B7-58B9-050C-5EF1635A5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967594-754C-25DC-626B-77F555D51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C81C1D-03AE-0158-2662-3891BF5B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F3E918-220B-681C-60E2-4DA02A13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81453D-0881-9EF6-D3A4-78300248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20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2CDD5-B794-1FD0-5C5B-25E295FB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7238C9-A599-E48C-1971-33FB8D7CC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50FA2B-43DC-318C-7565-53A318BE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1569F0-C53E-6A7A-EC57-5ED0FDC7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86AF3E-374D-978F-6390-8DA52ECC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0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D1F96B-A64D-B1D0-B7C3-8CE92C41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C6B804-2439-CAFF-D070-181F02B06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84DB23-B6BC-23FA-2708-ABCD02FB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65559B-B470-E1A6-F62B-AC98BD65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FC1A37-7F51-0636-E316-1F18AF51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00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A5A85D-2A81-E584-4AB4-AFFF7BF2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2D3E43-58C2-CC63-3024-BE61BD15D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955BCE-78EA-002C-C47A-1B84B0F93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24C008-9426-09F9-DF49-209BFFFE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EFC792-77F0-64F6-1D59-8A2737F3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F1C9D4-39A4-D73C-95CE-E8676E6D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75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BDB6A4-70F4-B291-2840-7A37B159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FEB753-10AB-6E97-3AFB-E316B627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A03907-2E5E-4D3F-09CB-7639C6CF7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E038D37-69A8-B1A3-1208-E3502025A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FCC601-FA08-51D5-E5A8-F0CBF70B1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611D8A2-A563-CF52-7197-A7A34A47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4E398B-CECF-F2E0-2040-5DD8FF53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5933C3-D08A-8032-99B0-27696B9E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20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B89441-A5C5-BE1F-F56E-83CBA7E9F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7FA474-2588-C2CA-7880-3E5A3B63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000070-9AB5-5BA2-80A9-80D1B5F7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602F36-75C3-3519-3F63-DA0E3337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49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20CDF9-31BD-75A0-BCAB-12C056CB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89313D-501A-73A2-C45A-B9E41F37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591A79-C361-E021-4166-F0DD8F4C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AAF30C-003F-54CF-32C1-97A518EBB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987" y="-114507"/>
            <a:ext cx="12566994" cy="725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4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3306A-0A67-08C8-8CE2-3CCFDE02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98B1C3-1226-EB2D-B3F3-8A3954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064F03-96BE-5C38-D612-79C4B556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3B743C-8986-6A04-73FF-2E26FEC5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7906D9-29FC-F44E-692B-F50F4101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010D58-E63F-DE4C-520B-09BC48A6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55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8DAD32-25E8-3D35-5666-AC793CB1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01CCC54-8B10-D07D-B7BE-EC329740A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E85E66-13A1-DE15-6C9A-23D4F2796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D2D0F6-9070-3DB0-414F-A55717BF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6E1BC7-16FE-4C36-28D8-67F5FE5F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5BD360-6B7C-CB0D-8DAD-A0BFCD48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84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894B93-69AB-61F6-6630-8F718025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C6B7A7-54D4-4902-C69C-05021422B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90C466-FAC9-450C-F813-F3B51C6B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45B32-83BB-43E8-387F-D1B9A020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622947-4A0B-682E-0F99-77920FA7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9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F253239-ABB0-27D8-3E2E-E4E539956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F88E90-A424-93CE-FBA5-657C31291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8F8822-3F0E-019C-C551-24BCB31B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119C55-270F-C77E-49B8-6C4C7197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0A3064-7664-AAE3-5BB6-21746C63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60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25C26C8-7DBE-4C39-F1A3-86FA636A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452C0E-A153-7B9A-FF96-22421E33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74FC86-7133-77AE-D094-10C773FFC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FBA8D-2DF5-43F8-8F71-1FBCB3E5610E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E12BB9-3E27-CD73-D4F2-E209160BF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A7B95C-4CE6-AA16-8512-3C0E7831B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7FDB8-991D-473A-BF70-D7E2396ED8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497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D5265B-55F3-6F14-D7E7-79F8F1684B97}"/>
              </a:ext>
            </a:extLst>
          </p:cNvPr>
          <p:cNvSpPr txBox="1"/>
          <p:nvPr/>
        </p:nvSpPr>
        <p:spPr>
          <a:xfrm>
            <a:off x="1719941" y="2497976"/>
            <a:ext cx="875211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500" dirty="0"/>
              <a:t>CAMP</a:t>
            </a:r>
            <a:endParaRPr kumimoji="1" lang="ja-JP" altLang="en-US" sz="115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1D49857-1951-2768-D6AA-24A871D34B7E}"/>
              </a:ext>
            </a:extLst>
          </p:cNvPr>
          <p:cNvSpPr txBox="1"/>
          <p:nvPr/>
        </p:nvSpPr>
        <p:spPr>
          <a:xfrm>
            <a:off x="1873250" y="4597400"/>
            <a:ext cx="8445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日本の物流</a:t>
            </a:r>
            <a:r>
              <a:rPr lang="en-US" altLang="ja-JP" sz="3200" dirty="0"/>
              <a:t>DX</a:t>
            </a:r>
            <a:r>
              <a:rPr lang="ja-JP" altLang="en-US" sz="3200" dirty="0"/>
              <a:t>に革命を、国際物流</a:t>
            </a:r>
            <a:r>
              <a:rPr lang="en-US" altLang="ja-JP" sz="3200" dirty="0"/>
              <a:t>MCP</a:t>
            </a:r>
            <a:r>
              <a:rPr lang="ja-JP" altLang="en-US" sz="3200" dirty="0"/>
              <a:t>事業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5436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1E0AB1F-DFD1-38E1-1F35-FFF53D67FDF8}"/>
              </a:ext>
            </a:extLst>
          </p:cNvPr>
          <p:cNvSpPr/>
          <p:nvPr/>
        </p:nvSpPr>
        <p:spPr>
          <a:xfrm>
            <a:off x="482550" y="1990473"/>
            <a:ext cx="5887358" cy="131859"/>
          </a:xfrm>
          <a:prstGeom prst="round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CD2CE2-01F4-EEF0-27E7-0BA3E2F702E9}"/>
              </a:ext>
            </a:extLst>
          </p:cNvPr>
          <p:cNvSpPr txBox="1"/>
          <p:nvPr/>
        </p:nvSpPr>
        <p:spPr>
          <a:xfrm>
            <a:off x="1092200" y="876301"/>
            <a:ext cx="383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事業背景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EBB5142-ADB9-E74C-2D91-40EFFEE562BC}"/>
              </a:ext>
            </a:extLst>
          </p:cNvPr>
          <p:cNvSpPr/>
          <p:nvPr/>
        </p:nvSpPr>
        <p:spPr>
          <a:xfrm>
            <a:off x="635000" y="2603501"/>
            <a:ext cx="10882086" cy="36793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ポテチ写真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40D14AC-195A-8D87-22DB-D4894CBA0F6F}"/>
              </a:ext>
            </a:extLst>
          </p:cNvPr>
          <p:cNvCxnSpPr>
            <a:cxnSpLocks/>
          </p:cNvCxnSpPr>
          <p:nvPr/>
        </p:nvCxnSpPr>
        <p:spPr>
          <a:xfrm>
            <a:off x="841833" y="1461076"/>
            <a:ext cx="2347685" cy="0"/>
          </a:xfrm>
          <a:prstGeom prst="line">
            <a:avLst/>
          </a:prstGeom>
          <a:ln w="28575" cap="rnd" cmpd="sng">
            <a:solidFill>
              <a:srgbClr val="61A1B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65C46BD-9EFB-2183-9D92-160DA0C91F21}"/>
              </a:ext>
            </a:extLst>
          </p:cNvPr>
          <p:cNvSpPr txBox="1"/>
          <p:nvPr/>
        </p:nvSpPr>
        <p:spPr>
          <a:xfrm>
            <a:off x="600528" y="1589581"/>
            <a:ext cx="626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止まらない地政学的リスク。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E6006047-56AB-FB73-9FF2-6AD7D1214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2714624"/>
            <a:ext cx="66865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1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9BDA-5DFA-2DA2-B3BC-697CAC8E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図 63">
            <a:extLst>
              <a:ext uri="{FF2B5EF4-FFF2-40B4-BE49-F238E27FC236}">
                <a16:creationId xmlns:a16="http://schemas.microsoft.com/office/drawing/2014/main" id="{B603A1D7-E89E-6D89-E9BE-4E8734C6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" t="21915" r="31508"/>
          <a:stretch>
            <a:fillRect/>
          </a:stretch>
        </p:blipFill>
        <p:spPr>
          <a:xfrm>
            <a:off x="7685313" y="488486"/>
            <a:ext cx="3336141" cy="1959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A8B08648-1765-60A5-367F-2593D2C1BD7A}"/>
              </a:ext>
            </a:extLst>
          </p:cNvPr>
          <p:cNvSpPr/>
          <p:nvPr/>
        </p:nvSpPr>
        <p:spPr>
          <a:xfrm>
            <a:off x="482550" y="1990473"/>
            <a:ext cx="5887358" cy="131859"/>
          </a:xfrm>
          <a:prstGeom prst="round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B56D4A9-83C7-E924-36B4-566438BD036A}"/>
              </a:ext>
            </a:extLst>
          </p:cNvPr>
          <p:cNvGrpSpPr/>
          <p:nvPr/>
        </p:nvGrpSpPr>
        <p:grpSpPr>
          <a:xfrm>
            <a:off x="752260" y="2353466"/>
            <a:ext cx="4636168" cy="1982938"/>
            <a:chOff x="721895" y="2552064"/>
            <a:chExt cx="4636168" cy="1982938"/>
          </a:xfrm>
          <a:solidFill>
            <a:schemeClr val="bg1"/>
          </a:solidFill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E1A36914-6F69-AEBB-91F9-11ACB366F9C6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grpFill/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C072C51A-5F1B-2AB4-88F2-FD19B5D9CE86}"/>
                </a:ext>
              </a:extLst>
            </p:cNvPr>
            <p:cNvSpPr/>
            <p:nvPr/>
          </p:nvSpPr>
          <p:spPr>
            <a:xfrm>
              <a:off x="804205" y="2552064"/>
              <a:ext cx="2591659" cy="64633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 w="28575">
              <a:solidFill>
                <a:srgbClr val="A2A1B9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dirty="0">
                  <a:solidFill>
                    <a:schemeClr val="bg1"/>
                  </a:solidFill>
                </a:rPr>
                <a:t>紅海危機</a:t>
              </a: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C7B8FFA-9417-5734-5420-FEBE8C4431B4}"/>
              </a:ext>
            </a:extLst>
          </p:cNvPr>
          <p:cNvSpPr txBox="1"/>
          <p:nvPr/>
        </p:nvSpPr>
        <p:spPr>
          <a:xfrm>
            <a:off x="600528" y="1589581"/>
            <a:ext cx="626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止まらない地政学的リスク。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3CD116-707F-35F0-AF27-8722661479B1}"/>
              </a:ext>
            </a:extLst>
          </p:cNvPr>
          <p:cNvSpPr txBox="1"/>
          <p:nvPr/>
        </p:nvSpPr>
        <p:spPr>
          <a:xfrm>
            <a:off x="22344" y="310229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/>
              <a:t>アジア～欧州航路の運賃 </a:t>
            </a:r>
            <a:r>
              <a:rPr lang="en-US" altLang="ja-JP" sz="3200" dirty="0">
                <a:solidFill>
                  <a:srgbClr val="F95F01"/>
                </a:solidFill>
              </a:rPr>
              <a:t>5</a:t>
            </a:r>
            <a:r>
              <a:rPr lang="ja-JP" altLang="en-US" sz="3200" dirty="0">
                <a:solidFill>
                  <a:srgbClr val="F95F01"/>
                </a:solidFill>
              </a:rPr>
              <a:t>倍</a:t>
            </a:r>
            <a:endParaRPr lang="en-US" altLang="ja-JP" sz="2000" dirty="0">
              <a:solidFill>
                <a:srgbClr val="F95F01"/>
              </a:solidFill>
            </a:endParaRPr>
          </a:p>
          <a:p>
            <a:pPr algn="ctr"/>
            <a:r>
              <a:rPr lang="ja-JP" altLang="en-US" sz="2400" dirty="0"/>
              <a:t>世界貿易量 </a:t>
            </a:r>
            <a:r>
              <a:rPr lang="ja-JP" altLang="en-US" sz="2400" dirty="0">
                <a:solidFill>
                  <a:srgbClr val="F95F01"/>
                </a:solidFill>
              </a:rPr>
              <a:t>－</a:t>
            </a:r>
            <a:r>
              <a:rPr lang="en-US" altLang="ja-JP" sz="3200" dirty="0">
                <a:solidFill>
                  <a:srgbClr val="F95F01"/>
                </a:solidFill>
              </a:rPr>
              <a:t>42%</a:t>
            </a:r>
            <a:endParaRPr lang="ja-JP" altLang="en-US" sz="2800" dirty="0">
              <a:solidFill>
                <a:srgbClr val="F95F0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0A8C203-24D4-DCC9-86FF-43CF9DBCAA0B}"/>
              </a:ext>
            </a:extLst>
          </p:cNvPr>
          <p:cNvSpPr txBox="1"/>
          <p:nvPr/>
        </p:nvSpPr>
        <p:spPr>
          <a:xfrm>
            <a:off x="1092200" y="876301"/>
            <a:ext cx="383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事業背景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9F1FD6B-4DFB-3277-8DBA-07D158CF06AA}"/>
              </a:ext>
            </a:extLst>
          </p:cNvPr>
          <p:cNvCxnSpPr>
            <a:cxnSpLocks/>
          </p:cNvCxnSpPr>
          <p:nvPr/>
        </p:nvCxnSpPr>
        <p:spPr>
          <a:xfrm>
            <a:off x="841833" y="1461076"/>
            <a:ext cx="2347685" cy="0"/>
          </a:xfrm>
          <a:prstGeom prst="line">
            <a:avLst/>
          </a:prstGeom>
          <a:ln w="28575" cap="rnd" cmpd="sng">
            <a:solidFill>
              <a:srgbClr val="61A1B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ABA6D91D-A6BD-475D-3A19-17C7FA2EFD61}"/>
              </a:ext>
            </a:extLst>
          </p:cNvPr>
          <p:cNvGrpSpPr/>
          <p:nvPr/>
        </p:nvGrpSpPr>
        <p:grpSpPr>
          <a:xfrm>
            <a:off x="6586432" y="2346914"/>
            <a:ext cx="4636168" cy="1982938"/>
            <a:chOff x="352925" y="2570307"/>
            <a:chExt cx="4636168" cy="1982938"/>
          </a:xfrm>
        </p:grpSpPr>
        <p:sp>
          <p:nvSpPr>
            <p:cNvPr id="49" name="四角形: 角を丸くする 48">
              <a:extLst>
                <a:ext uri="{FF2B5EF4-FFF2-40B4-BE49-F238E27FC236}">
                  <a16:creationId xmlns:a16="http://schemas.microsoft.com/office/drawing/2014/main" id="{2216B484-FA58-466B-0349-ED73C4D1F1E1}"/>
                </a:ext>
              </a:extLst>
            </p:cNvPr>
            <p:cNvSpPr/>
            <p:nvPr/>
          </p:nvSpPr>
          <p:spPr>
            <a:xfrm>
              <a:off x="352925" y="2882717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chemeClr val="bg1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E404EF1F-9B52-A1BF-B1CC-3A0EA23C6771}"/>
                </a:ext>
              </a:extLst>
            </p:cNvPr>
            <p:cNvSpPr/>
            <p:nvPr/>
          </p:nvSpPr>
          <p:spPr>
            <a:xfrm>
              <a:off x="435235" y="2570307"/>
              <a:ext cx="2591659" cy="64633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>
                  <a:solidFill>
                    <a:schemeClr val="bg1"/>
                  </a:solidFill>
                </a:rPr>
                <a:t>米中貿易摩擦</a:t>
              </a:r>
              <a:endParaRPr kumimoji="1" lang="ja-JP" alt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7139B57-E22E-2FC2-2C5A-3B2DAFBEC67F}"/>
              </a:ext>
            </a:extLst>
          </p:cNvPr>
          <p:cNvSpPr txBox="1"/>
          <p:nvPr/>
        </p:nvSpPr>
        <p:spPr>
          <a:xfrm>
            <a:off x="6651180" y="3203632"/>
            <a:ext cx="453819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/>
              <a:t>関税変動、半導体・電子部品</a:t>
            </a:r>
            <a:endParaRPr lang="en-US" altLang="ja-JP" sz="2400" dirty="0"/>
          </a:p>
          <a:p>
            <a:pPr algn="ctr"/>
            <a:r>
              <a:rPr lang="ja-JP" altLang="en-US" sz="2800" dirty="0">
                <a:solidFill>
                  <a:srgbClr val="F95F01"/>
                </a:solidFill>
              </a:rPr>
              <a:t>サプライチェーン再構築</a:t>
            </a:r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EB0036CB-A667-7421-3B36-71EAFD45210B}"/>
              </a:ext>
            </a:extLst>
          </p:cNvPr>
          <p:cNvGrpSpPr/>
          <p:nvPr/>
        </p:nvGrpSpPr>
        <p:grpSpPr>
          <a:xfrm>
            <a:off x="752264" y="4519725"/>
            <a:ext cx="4636168" cy="1982938"/>
            <a:chOff x="721895" y="2552064"/>
            <a:chExt cx="4636168" cy="1982938"/>
          </a:xfrm>
        </p:grpSpPr>
        <p:sp>
          <p:nvSpPr>
            <p:cNvPr id="54" name="四角形: 角を丸くする 53">
              <a:extLst>
                <a:ext uri="{FF2B5EF4-FFF2-40B4-BE49-F238E27FC236}">
                  <a16:creationId xmlns:a16="http://schemas.microsoft.com/office/drawing/2014/main" id="{4B13368F-646F-BAB4-5523-EBB1EA0A7142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chemeClr val="bg1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5" name="四角形: 角を丸くする 54">
              <a:extLst>
                <a:ext uri="{FF2B5EF4-FFF2-40B4-BE49-F238E27FC236}">
                  <a16:creationId xmlns:a16="http://schemas.microsoft.com/office/drawing/2014/main" id="{39007589-D4C5-1296-F674-CFBDA57A0ECE}"/>
                </a:ext>
              </a:extLst>
            </p:cNvPr>
            <p:cNvSpPr/>
            <p:nvPr/>
          </p:nvSpPr>
          <p:spPr>
            <a:xfrm>
              <a:off x="804205" y="2552064"/>
              <a:ext cx="2920998" cy="64633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>
                  <a:solidFill>
                    <a:schemeClr val="bg1"/>
                  </a:solidFill>
                </a:rPr>
                <a:t>台湾有事リスク</a:t>
              </a:r>
              <a:endParaRPr kumimoji="1" lang="ja-JP" alt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A7B514E-4DA6-6608-5C68-B921F9AAD24A}"/>
              </a:ext>
            </a:extLst>
          </p:cNvPr>
          <p:cNvSpPr txBox="1"/>
          <p:nvPr/>
        </p:nvSpPr>
        <p:spPr>
          <a:xfrm>
            <a:off x="22344" y="546312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/>
              <a:t>日本の</a:t>
            </a:r>
            <a:r>
              <a:rPr lang="en-US" altLang="ja-JP" sz="3200" dirty="0">
                <a:solidFill>
                  <a:srgbClr val="F95F01"/>
                </a:solidFill>
              </a:rPr>
              <a:t>30</a:t>
            </a:r>
            <a:r>
              <a:rPr lang="ja-JP" altLang="en-US" sz="3200" dirty="0">
                <a:solidFill>
                  <a:srgbClr val="F95F01"/>
                </a:solidFill>
              </a:rPr>
              <a:t>％</a:t>
            </a:r>
            <a:r>
              <a:rPr lang="ja-JP" altLang="en-US" sz="2400" dirty="0"/>
              <a:t>以上が影響</a:t>
            </a:r>
            <a:endParaRPr lang="en-US" altLang="ja-JP" sz="2400" dirty="0"/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522BDECA-1002-05DE-B4D5-218CD6516813}"/>
              </a:ext>
            </a:extLst>
          </p:cNvPr>
          <p:cNvGrpSpPr/>
          <p:nvPr/>
        </p:nvGrpSpPr>
        <p:grpSpPr>
          <a:xfrm>
            <a:off x="6586432" y="4524507"/>
            <a:ext cx="4636168" cy="1982938"/>
            <a:chOff x="721895" y="2552064"/>
            <a:chExt cx="4636168" cy="1982938"/>
          </a:xfrm>
        </p:grpSpPr>
        <p:sp>
          <p:nvSpPr>
            <p:cNvPr id="58" name="四角形: 角を丸くする 57">
              <a:extLst>
                <a:ext uri="{FF2B5EF4-FFF2-40B4-BE49-F238E27FC236}">
                  <a16:creationId xmlns:a16="http://schemas.microsoft.com/office/drawing/2014/main" id="{D401CA41-ED0B-C2BC-C12B-F1AB1D08E2EE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chemeClr val="bg1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9" name="四角形: 角を丸くする 58">
              <a:extLst>
                <a:ext uri="{FF2B5EF4-FFF2-40B4-BE49-F238E27FC236}">
                  <a16:creationId xmlns:a16="http://schemas.microsoft.com/office/drawing/2014/main" id="{D79C68A9-7EAA-1CA7-B883-DA0A380EF963}"/>
                </a:ext>
              </a:extLst>
            </p:cNvPr>
            <p:cNvSpPr/>
            <p:nvPr/>
          </p:nvSpPr>
          <p:spPr>
            <a:xfrm>
              <a:off x="804204" y="2552064"/>
              <a:ext cx="4416545" cy="646332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>
                  <a:solidFill>
                    <a:schemeClr val="bg1"/>
                  </a:solidFill>
                </a:rPr>
                <a:t>ロシア・ウクライナ戦争</a:t>
              </a:r>
              <a:endParaRPr kumimoji="1" lang="ja-JP" alt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E0AA47F-1730-339C-9F55-593DD86C9EA3}"/>
              </a:ext>
            </a:extLst>
          </p:cNvPr>
          <p:cNvSpPr txBox="1"/>
          <p:nvPr/>
        </p:nvSpPr>
        <p:spPr>
          <a:xfrm>
            <a:off x="5948759" y="5338670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/>
              <a:t>シベリア鉄道ルート閉鎖</a:t>
            </a:r>
            <a:endParaRPr lang="en-US" altLang="ja-JP" sz="2400" dirty="0"/>
          </a:p>
          <a:p>
            <a:pPr algn="ctr"/>
            <a:r>
              <a:rPr lang="ja-JP" altLang="en-US" sz="2800" dirty="0">
                <a:solidFill>
                  <a:srgbClr val="F95F01"/>
                </a:solidFill>
              </a:rPr>
              <a:t>北極海航路不安定化</a:t>
            </a:r>
          </a:p>
        </p:txBody>
      </p:sp>
    </p:spTree>
    <p:extLst>
      <p:ext uri="{BB962C8B-B14F-4D97-AF65-F5344CB8AC3E}">
        <p14:creationId xmlns:p14="http://schemas.microsoft.com/office/powerpoint/2010/main" val="40522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1226-51F7-31EA-D608-DEB6D7D6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80CEE22A-961F-3F8F-8AA4-6E1F634519D9}"/>
              </a:ext>
            </a:extLst>
          </p:cNvPr>
          <p:cNvSpPr/>
          <p:nvPr/>
        </p:nvSpPr>
        <p:spPr>
          <a:xfrm>
            <a:off x="482550" y="1990473"/>
            <a:ext cx="5887358" cy="131859"/>
          </a:xfrm>
          <a:prstGeom prst="round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092A298-EE8F-74C2-0703-F4432C379864}"/>
              </a:ext>
            </a:extLst>
          </p:cNvPr>
          <p:cNvGrpSpPr/>
          <p:nvPr/>
        </p:nvGrpSpPr>
        <p:grpSpPr>
          <a:xfrm>
            <a:off x="752260" y="2353466"/>
            <a:ext cx="4636168" cy="1982938"/>
            <a:chOff x="721895" y="2552064"/>
            <a:chExt cx="4636168" cy="1982938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698B114-CF90-175E-11DF-2CB3D53E7899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rgbClr val="61A1B3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D6EC400D-0EA5-A6D3-DE36-9465F6AEEAF7}"/>
                </a:ext>
              </a:extLst>
            </p:cNvPr>
            <p:cNvSpPr/>
            <p:nvPr/>
          </p:nvSpPr>
          <p:spPr>
            <a:xfrm>
              <a:off x="804205" y="2552064"/>
              <a:ext cx="2591659" cy="646332"/>
            </a:xfrm>
            <a:prstGeom prst="roundRect">
              <a:avLst>
                <a:gd name="adj" fmla="val 50000"/>
              </a:avLst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dirty="0"/>
                <a:t>紅海危機</a:t>
              </a: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FF94BB-7E5B-67FE-739A-037D10B9CADD}"/>
              </a:ext>
            </a:extLst>
          </p:cNvPr>
          <p:cNvSpPr txBox="1"/>
          <p:nvPr/>
        </p:nvSpPr>
        <p:spPr>
          <a:xfrm>
            <a:off x="600528" y="1589581"/>
            <a:ext cx="626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止まらない地政学的リスク。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D9996A-8F69-C1AA-55B4-9DF4A525FB73}"/>
              </a:ext>
            </a:extLst>
          </p:cNvPr>
          <p:cNvSpPr txBox="1"/>
          <p:nvPr/>
        </p:nvSpPr>
        <p:spPr>
          <a:xfrm>
            <a:off x="22344" y="310229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アジア～欧州航路の運賃 </a:t>
            </a:r>
            <a:r>
              <a:rPr lang="en-US" altLang="ja-JP" sz="3200" dirty="0">
                <a:solidFill>
                  <a:schemeClr val="bg1"/>
                </a:solidFill>
              </a:rPr>
              <a:t>5</a:t>
            </a:r>
            <a:r>
              <a:rPr lang="ja-JP" altLang="en-US" sz="3200" dirty="0">
                <a:solidFill>
                  <a:schemeClr val="bg1"/>
                </a:solidFill>
              </a:rPr>
              <a:t>倍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世界貿易量 －</a:t>
            </a:r>
            <a:r>
              <a:rPr lang="en-US" altLang="ja-JP" sz="3200" dirty="0">
                <a:solidFill>
                  <a:schemeClr val="bg1"/>
                </a:solidFill>
              </a:rPr>
              <a:t>42%</a:t>
            </a:r>
            <a:endParaRPr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2089BBC-45F1-1F9F-CFF4-D7DBB7E86BCD}"/>
              </a:ext>
            </a:extLst>
          </p:cNvPr>
          <p:cNvSpPr txBox="1"/>
          <p:nvPr/>
        </p:nvSpPr>
        <p:spPr>
          <a:xfrm>
            <a:off x="1092200" y="876301"/>
            <a:ext cx="383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事業背景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F2A7263-36FB-957A-C469-B92BA22FD81E}"/>
              </a:ext>
            </a:extLst>
          </p:cNvPr>
          <p:cNvCxnSpPr>
            <a:cxnSpLocks/>
          </p:cNvCxnSpPr>
          <p:nvPr/>
        </p:nvCxnSpPr>
        <p:spPr>
          <a:xfrm>
            <a:off x="841833" y="1461076"/>
            <a:ext cx="2347685" cy="0"/>
          </a:xfrm>
          <a:prstGeom prst="line">
            <a:avLst/>
          </a:prstGeom>
          <a:ln w="28575" cap="rnd" cmpd="sng">
            <a:solidFill>
              <a:srgbClr val="61A1B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9E2C768-7A51-D5ED-D7EF-6627E6F9511E}"/>
              </a:ext>
            </a:extLst>
          </p:cNvPr>
          <p:cNvGrpSpPr/>
          <p:nvPr/>
        </p:nvGrpSpPr>
        <p:grpSpPr>
          <a:xfrm>
            <a:off x="6586432" y="2346914"/>
            <a:ext cx="4636168" cy="1982938"/>
            <a:chOff x="352925" y="2570307"/>
            <a:chExt cx="4636168" cy="1982938"/>
          </a:xfrm>
        </p:grpSpPr>
        <p:sp>
          <p:nvSpPr>
            <p:cNvPr id="49" name="四角形: 角を丸くする 48">
              <a:extLst>
                <a:ext uri="{FF2B5EF4-FFF2-40B4-BE49-F238E27FC236}">
                  <a16:creationId xmlns:a16="http://schemas.microsoft.com/office/drawing/2014/main" id="{CBC0E1E9-1826-8CD7-2BE4-ADBA34FCAC2D}"/>
                </a:ext>
              </a:extLst>
            </p:cNvPr>
            <p:cNvSpPr/>
            <p:nvPr/>
          </p:nvSpPr>
          <p:spPr>
            <a:xfrm>
              <a:off x="352925" y="2882717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rgbClr val="61A1B3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5441BFDC-6128-B7C1-9094-A9E6FAE75D85}"/>
                </a:ext>
              </a:extLst>
            </p:cNvPr>
            <p:cNvSpPr/>
            <p:nvPr/>
          </p:nvSpPr>
          <p:spPr>
            <a:xfrm>
              <a:off x="435235" y="2570307"/>
              <a:ext cx="2591659" cy="646332"/>
            </a:xfrm>
            <a:prstGeom prst="roundRect">
              <a:avLst>
                <a:gd name="adj" fmla="val 50000"/>
              </a:avLst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米中貿易摩擦</a:t>
              </a:r>
              <a:endParaRPr kumimoji="1" lang="ja-JP" altLang="en-US" sz="2800" dirty="0"/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4A1AA75-160D-775D-2505-E1EBA50B53C2}"/>
              </a:ext>
            </a:extLst>
          </p:cNvPr>
          <p:cNvSpPr txBox="1"/>
          <p:nvPr/>
        </p:nvSpPr>
        <p:spPr>
          <a:xfrm>
            <a:off x="6651180" y="3203632"/>
            <a:ext cx="4538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関税変動、半導体・電子部品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サプライチェーン再構築</a:t>
            </a:r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7B87127C-C863-E2D7-6839-64B1479668E3}"/>
              </a:ext>
            </a:extLst>
          </p:cNvPr>
          <p:cNvGrpSpPr/>
          <p:nvPr/>
        </p:nvGrpSpPr>
        <p:grpSpPr>
          <a:xfrm>
            <a:off x="752264" y="4519725"/>
            <a:ext cx="4636168" cy="1982938"/>
            <a:chOff x="721895" y="2552064"/>
            <a:chExt cx="4636168" cy="1982938"/>
          </a:xfrm>
        </p:grpSpPr>
        <p:sp>
          <p:nvSpPr>
            <p:cNvPr id="54" name="四角形: 角を丸くする 53">
              <a:extLst>
                <a:ext uri="{FF2B5EF4-FFF2-40B4-BE49-F238E27FC236}">
                  <a16:creationId xmlns:a16="http://schemas.microsoft.com/office/drawing/2014/main" id="{F8C28DD0-85E5-FCE8-F20A-45B91F833D05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rgbClr val="61A1B3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5" name="四角形: 角を丸くする 54">
              <a:extLst>
                <a:ext uri="{FF2B5EF4-FFF2-40B4-BE49-F238E27FC236}">
                  <a16:creationId xmlns:a16="http://schemas.microsoft.com/office/drawing/2014/main" id="{BC2DA1BF-2E64-734D-DAAA-38E3B494F110}"/>
                </a:ext>
              </a:extLst>
            </p:cNvPr>
            <p:cNvSpPr/>
            <p:nvPr/>
          </p:nvSpPr>
          <p:spPr>
            <a:xfrm>
              <a:off x="804205" y="2552064"/>
              <a:ext cx="2920998" cy="646332"/>
            </a:xfrm>
            <a:prstGeom prst="roundRect">
              <a:avLst>
                <a:gd name="adj" fmla="val 50000"/>
              </a:avLst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台湾有事リスク</a:t>
              </a:r>
              <a:endParaRPr kumimoji="1" lang="ja-JP" altLang="en-US" sz="2800" dirty="0"/>
            </a:p>
          </p:txBody>
        </p:sp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348E5E1-BD4A-68A3-6E79-DDB12B3A0B0F}"/>
              </a:ext>
            </a:extLst>
          </p:cNvPr>
          <p:cNvSpPr txBox="1"/>
          <p:nvPr/>
        </p:nvSpPr>
        <p:spPr>
          <a:xfrm>
            <a:off x="22344" y="546312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日本</a:t>
            </a:r>
            <a:r>
              <a:rPr lang="en-US" altLang="ja-JP" sz="3200" dirty="0">
                <a:solidFill>
                  <a:schemeClr val="bg1"/>
                </a:solidFill>
              </a:rPr>
              <a:t>30</a:t>
            </a:r>
            <a:r>
              <a:rPr lang="ja-JP" altLang="en-US" sz="3200" dirty="0">
                <a:solidFill>
                  <a:schemeClr val="bg1"/>
                </a:solidFill>
              </a:rPr>
              <a:t>％</a:t>
            </a:r>
            <a:r>
              <a:rPr lang="ja-JP" altLang="en-US" sz="2400" dirty="0">
                <a:solidFill>
                  <a:schemeClr val="bg1"/>
                </a:solidFill>
              </a:rPr>
              <a:t>以上が影響</a:t>
            </a:r>
            <a:endParaRPr lang="en-US" altLang="ja-JP" sz="2400" dirty="0">
              <a:solidFill>
                <a:schemeClr val="bg1"/>
              </a:solidFill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CEC8261D-6C6C-495E-8BEF-63C4C51D0E14}"/>
              </a:ext>
            </a:extLst>
          </p:cNvPr>
          <p:cNvGrpSpPr/>
          <p:nvPr/>
        </p:nvGrpSpPr>
        <p:grpSpPr>
          <a:xfrm>
            <a:off x="6586432" y="4524507"/>
            <a:ext cx="4636168" cy="1982938"/>
            <a:chOff x="721895" y="2552064"/>
            <a:chExt cx="4636168" cy="1982938"/>
          </a:xfrm>
        </p:grpSpPr>
        <p:sp>
          <p:nvSpPr>
            <p:cNvPr id="58" name="四角形: 角を丸くする 57">
              <a:extLst>
                <a:ext uri="{FF2B5EF4-FFF2-40B4-BE49-F238E27FC236}">
                  <a16:creationId xmlns:a16="http://schemas.microsoft.com/office/drawing/2014/main" id="{6E838A54-06A4-800B-365F-0830B764AEA2}"/>
                </a:ext>
              </a:extLst>
            </p:cNvPr>
            <p:cNvSpPr/>
            <p:nvPr/>
          </p:nvSpPr>
          <p:spPr>
            <a:xfrm>
              <a:off x="721895" y="2864474"/>
              <a:ext cx="4636168" cy="1670528"/>
            </a:xfrm>
            <a:prstGeom prst="roundRect">
              <a:avLst>
                <a:gd name="adj" fmla="val 4994"/>
              </a:avLst>
            </a:prstGeom>
            <a:solidFill>
              <a:srgbClr val="61A1B3"/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9" name="四角形: 角を丸くする 58">
              <a:extLst>
                <a:ext uri="{FF2B5EF4-FFF2-40B4-BE49-F238E27FC236}">
                  <a16:creationId xmlns:a16="http://schemas.microsoft.com/office/drawing/2014/main" id="{EFB2C878-B492-CB5B-1C86-9668916C6E99}"/>
                </a:ext>
              </a:extLst>
            </p:cNvPr>
            <p:cNvSpPr/>
            <p:nvPr/>
          </p:nvSpPr>
          <p:spPr>
            <a:xfrm>
              <a:off x="804204" y="2552064"/>
              <a:ext cx="4416545" cy="646332"/>
            </a:xfrm>
            <a:prstGeom prst="roundRect">
              <a:avLst>
                <a:gd name="adj" fmla="val 50000"/>
              </a:avLst>
            </a:prstGeom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ロシア・ウクライナ戦争</a:t>
              </a:r>
              <a:endParaRPr kumimoji="1" lang="ja-JP" altLang="en-US" sz="2800" dirty="0"/>
            </a:p>
          </p:txBody>
        </p:sp>
      </p:grp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B3884F2-3484-2BCF-F951-8D3A070F6A1A}"/>
              </a:ext>
            </a:extLst>
          </p:cNvPr>
          <p:cNvSpPr txBox="1"/>
          <p:nvPr/>
        </p:nvSpPr>
        <p:spPr>
          <a:xfrm>
            <a:off x="5948759" y="533867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シベリア鉄道ルート閉鎖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bg1"/>
                </a:solidFill>
              </a:rPr>
              <a:t>北極海航路不安定化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3215CC-9DDC-EDA2-3821-7B2E380E10AB}"/>
              </a:ext>
            </a:extLst>
          </p:cNvPr>
          <p:cNvSpPr/>
          <p:nvPr/>
        </p:nvSpPr>
        <p:spPr>
          <a:xfrm>
            <a:off x="-130723" y="0"/>
            <a:ext cx="12336378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FE8DD7-53C1-1CC9-7D6E-1B4DA8796ABA}"/>
              </a:ext>
            </a:extLst>
          </p:cNvPr>
          <p:cNvSpPr txBox="1"/>
          <p:nvPr/>
        </p:nvSpPr>
        <p:spPr>
          <a:xfrm>
            <a:off x="1209841" y="2066873"/>
            <a:ext cx="10026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4800" dirty="0">
                <a:solidFill>
                  <a:schemeClr val="bg1"/>
                </a:solidFill>
              </a:rPr>
              <a:t>地政学的リスクは止められない。</a:t>
            </a:r>
            <a:endParaRPr kumimoji="1" lang="en-US" altLang="ja-JP" sz="4800" dirty="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7498E3-4D60-8942-0B08-8B5899707E53}"/>
              </a:ext>
            </a:extLst>
          </p:cNvPr>
          <p:cNvSpPr txBox="1"/>
          <p:nvPr/>
        </p:nvSpPr>
        <p:spPr>
          <a:xfrm>
            <a:off x="-49845" y="3907222"/>
            <a:ext cx="12336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7200" dirty="0">
                <a:solidFill>
                  <a:srgbClr val="F95F01"/>
                </a:solidFill>
              </a:rPr>
              <a:t>二次被害</a:t>
            </a:r>
            <a:r>
              <a:rPr lang="ja-JP" altLang="en-US" sz="5400" dirty="0">
                <a:solidFill>
                  <a:schemeClr val="bg1"/>
                </a:solidFill>
              </a:rPr>
              <a:t>なら止められる。</a:t>
            </a:r>
            <a:endParaRPr kumimoji="1" lang="ja-JP" altLang="en-US" sz="5400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520C9A-BC9A-6BCC-8357-8294F56F5965}"/>
              </a:ext>
            </a:extLst>
          </p:cNvPr>
          <p:cNvSpPr txBox="1"/>
          <p:nvPr/>
        </p:nvSpPr>
        <p:spPr>
          <a:xfrm>
            <a:off x="3046709" y="3038489"/>
            <a:ext cx="6406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JP Black"/>
                <a:ea typeface="Noto Sans JP Black"/>
                <a:cs typeface="+mn-cs"/>
              </a:rPr>
              <a:t>でも、</a:t>
            </a:r>
            <a:endParaRPr kumimoji="1" lang="en-US" altLang="ja-JP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JP Black"/>
              <a:ea typeface="Noto Sans JP Black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44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68901F7A-9093-5686-944C-2937ACDC355B}"/>
              </a:ext>
            </a:extLst>
          </p:cNvPr>
          <p:cNvCxnSpPr>
            <a:cxnSpLocks/>
            <a:stCxn id="98" idx="1"/>
            <a:endCxn id="57" idx="3"/>
          </p:cNvCxnSpPr>
          <p:nvPr/>
        </p:nvCxnSpPr>
        <p:spPr>
          <a:xfrm flipH="1">
            <a:off x="4565108" y="3314186"/>
            <a:ext cx="5012325" cy="0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E229BF2-4860-6687-F613-5952C68B9113}"/>
              </a:ext>
            </a:extLst>
          </p:cNvPr>
          <p:cNvSpPr txBox="1"/>
          <p:nvPr/>
        </p:nvSpPr>
        <p:spPr>
          <a:xfrm>
            <a:off x="1399902" y="749829"/>
            <a:ext cx="9690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二次被害を大きくしているのは、</a:t>
            </a:r>
            <a:r>
              <a:rPr kumimoji="1" lang="ja-JP" altLang="en-US" sz="4400" dirty="0"/>
              <a:t>情報分断</a:t>
            </a:r>
            <a:endParaRPr kumimoji="1" lang="ja-JP" altLang="en-US" sz="3600" dirty="0"/>
          </a:p>
        </p:txBody>
      </p: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08F2BBB5-7043-3B4B-703D-C490667A6316}"/>
              </a:ext>
            </a:extLst>
          </p:cNvPr>
          <p:cNvGrpSpPr/>
          <p:nvPr/>
        </p:nvGrpSpPr>
        <p:grpSpPr>
          <a:xfrm>
            <a:off x="266851" y="1672613"/>
            <a:ext cx="11639804" cy="910963"/>
            <a:chOff x="690033" y="1906618"/>
            <a:chExt cx="10685538" cy="1159728"/>
          </a:xfrm>
        </p:grpSpPr>
        <p:sp>
          <p:nvSpPr>
            <p:cNvPr id="39" name="矢印: 山形 38">
              <a:extLst>
                <a:ext uri="{FF2B5EF4-FFF2-40B4-BE49-F238E27FC236}">
                  <a16:creationId xmlns:a16="http://schemas.microsoft.com/office/drawing/2014/main" id="{DB99799D-EB57-AD4B-4FCD-8AFD97A754B5}"/>
                </a:ext>
              </a:extLst>
            </p:cNvPr>
            <p:cNvSpPr/>
            <p:nvPr/>
          </p:nvSpPr>
          <p:spPr>
            <a:xfrm>
              <a:off x="2699178" y="1906620"/>
              <a:ext cx="2196791" cy="1137425"/>
            </a:xfrm>
            <a:prstGeom prst="chevron">
              <a:avLst>
                <a:gd name="adj" fmla="val 21569"/>
              </a:avLst>
            </a:prstGeom>
            <a:solidFill>
              <a:srgbClr val="A2A1B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0" name="矢印: 山形 39">
              <a:extLst>
                <a:ext uri="{FF2B5EF4-FFF2-40B4-BE49-F238E27FC236}">
                  <a16:creationId xmlns:a16="http://schemas.microsoft.com/office/drawing/2014/main" id="{7681616B-B59D-A645-093F-58C96192D63E}"/>
                </a:ext>
              </a:extLst>
            </p:cNvPr>
            <p:cNvSpPr/>
            <p:nvPr/>
          </p:nvSpPr>
          <p:spPr>
            <a:xfrm>
              <a:off x="4924645" y="1906620"/>
              <a:ext cx="2196791" cy="1137425"/>
            </a:xfrm>
            <a:prstGeom prst="chevron">
              <a:avLst>
                <a:gd name="adj" fmla="val 21569"/>
              </a:avLst>
            </a:prstGeom>
            <a:solidFill>
              <a:srgbClr val="A2A1B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1" name="矢印: 山形 40">
              <a:extLst>
                <a:ext uri="{FF2B5EF4-FFF2-40B4-BE49-F238E27FC236}">
                  <a16:creationId xmlns:a16="http://schemas.microsoft.com/office/drawing/2014/main" id="{D0BC245D-CEE7-F9B3-7F89-205445C38965}"/>
                </a:ext>
              </a:extLst>
            </p:cNvPr>
            <p:cNvSpPr/>
            <p:nvPr/>
          </p:nvSpPr>
          <p:spPr>
            <a:xfrm>
              <a:off x="7147682" y="1906620"/>
              <a:ext cx="2196791" cy="1137425"/>
            </a:xfrm>
            <a:prstGeom prst="chevron">
              <a:avLst>
                <a:gd name="adj" fmla="val 21569"/>
              </a:avLst>
            </a:prstGeom>
            <a:solidFill>
              <a:srgbClr val="A2A1B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A629D280-B8AE-959D-9080-7F3E3D2E09B6}"/>
                </a:ext>
              </a:extLst>
            </p:cNvPr>
            <p:cNvSpPr/>
            <p:nvPr/>
          </p:nvSpPr>
          <p:spPr>
            <a:xfrm>
              <a:off x="9347045" y="1906620"/>
              <a:ext cx="2028526" cy="1137425"/>
            </a:xfrm>
            <a:custGeom>
              <a:avLst/>
              <a:gdLst>
                <a:gd name="csX0" fmla="*/ 0 w 2399520"/>
                <a:gd name="csY0" fmla="*/ 0 h 1137425"/>
                <a:gd name="csX1" fmla="*/ 543513 w 2399520"/>
                <a:gd name="csY1" fmla="*/ 0 h 1137425"/>
                <a:gd name="csX2" fmla="*/ 1343034 w 2399520"/>
                <a:gd name="csY2" fmla="*/ 0 h 1137425"/>
                <a:gd name="csX3" fmla="*/ 1951460 w 2399520"/>
                <a:gd name="csY3" fmla="*/ 0 h 1137425"/>
                <a:gd name="csX4" fmla="*/ 2196791 w 2399520"/>
                <a:gd name="csY4" fmla="*/ 0 h 1137425"/>
                <a:gd name="csX5" fmla="*/ 2253486 w 2399520"/>
                <a:gd name="csY5" fmla="*/ 0 h 1137425"/>
                <a:gd name="csX6" fmla="*/ 2399520 w 2399520"/>
                <a:gd name="csY6" fmla="*/ 146034 h 1137425"/>
                <a:gd name="csX7" fmla="*/ 2399520 w 2399520"/>
                <a:gd name="csY7" fmla="*/ 991391 h 1137425"/>
                <a:gd name="csX8" fmla="*/ 2253486 w 2399520"/>
                <a:gd name="csY8" fmla="*/ 1137425 h 1137425"/>
                <a:gd name="csX9" fmla="*/ 2196791 w 2399520"/>
                <a:gd name="csY9" fmla="*/ 1137425 h 1137425"/>
                <a:gd name="csX10" fmla="*/ 1951460 w 2399520"/>
                <a:gd name="csY10" fmla="*/ 1137425 h 1137425"/>
                <a:gd name="csX11" fmla="*/ 1343034 w 2399520"/>
                <a:gd name="csY11" fmla="*/ 1137425 h 1137425"/>
                <a:gd name="csX12" fmla="*/ 543513 w 2399520"/>
                <a:gd name="csY12" fmla="*/ 1137425 h 1137425"/>
                <a:gd name="csX13" fmla="*/ 0 w 2399520"/>
                <a:gd name="csY13" fmla="*/ 1137425 h 1137425"/>
                <a:gd name="csX14" fmla="*/ 245331 w 2399520"/>
                <a:gd name="csY14" fmla="*/ 568713 h 1137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399520" h="1137425">
                  <a:moveTo>
                    <a:pt x="0" y="0"/>
                  </a:moveTo>
                  <a:lnTo>
                    <a:pt x="543513" y="0"/>
                  </a:lnTo>
                  <a:lnTo>
                    <a:pt x="1343034" y="0"/>
                  </a:lnTo>
                  <a:lnTo>
                    <a:pt x="1951460" y="0"/>
                  </a:lnTo>
                  <a:lnTo>
                    <a:pt x="2196791" y="0"/>
                  </a:lnTo>
                  <a:lnTo>
                    <a:pt x="2253486" y="0"/>
                  </a:lnTo>
                  <a:cubicBezTo>
                    <a:pt x="2334138" y="0"/>
                    <a:pt x="2399520" y="65382"/>
                    <a:pt x="2399520" y="146034"/>
                  </a:cubicBezTo>
                  <a:lnTo>
                    <a:pt x="2399520" y="991391"/>
                  </a:lnTo>
                  <a:cubicBezTo>
                    <a:pt x="2399520" y="1072043"/>
                    <a:pt x="2334138" y="1137425"/>
                    <a:pt x="2253486" y="1137425"/>
                  </a:cubicBezTo>
                  <a:lnTo>
                    <a:pt x="2196791" y="1137425"/>
                  </a:lnTo>
                  <a:lnTo>
                    <a:pt x="1951460" y="1137425"/>
                  </a:lnTo>
                  <a:lnTo>
                    <a:pt x="1343034" y="1137425"/>
                  </a:lnTo>
                  <a:lnTo>
                    <a:pt x="543513" y="1137425"/>
                  </a:lnTo>
                  <a:lnTo>
                    <a:pt x="0" y="1137425"/>
                  </a:lnTo>
                  <a:lnTo>
                    <a:pt x="245331" y="568713"/>
                  </a:lnTo>
                  <a:close/>
                </a:path>
              </a:pathLst>
            </a:custGeom>
            <a:solidFill>
              <a:srgbClr val="A2A1B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8D2AACD2-486B-6AE7-C913-92373156AF67}"/>
                </a:ext>
              </a:extLst>
            </p:cNvPr>
            <p:cNvSpPr/>
            <p:nvPr/>
          </p:nvSpPr>
          <p:spPr>
            <a:xfrm>
              <a:off x="690033" y="1906618"/>
              <a:ext cx="2038834" cy="1159728"/>
            </a:xfrm>
            <a:custGeom>
              <a:avLst/>
              <a:gdLst>
                <a:gd name="csX0" fmla="*/ 135027 w 2309429"/>
                <a:gd name="csY0" fmla="*/ 0 h 1159728"/>
                <a:gd name="csX1" fmla="*/ 1252904 w 2309429"/>
                <a:gd name="csY1" fmla="*/ 0 h 1159728"/>
                <a:gd name="csX2" fmla="*/ 1252909 w 2309429"/>
                <a:gd name="csY2" fmla="*/ 1 h 1159728"/>
                <a:gd name="csX3" fmla="*/ 2041799 w 2309429"/>
                <a:gd name="csY3" fmla="*/ 1 h 1159728"/>
                <a:gd name="csX4" fmla="*/ 2309429 w 2309429"/>
                <a:gd name="csY4" fmla="*/ 579865 h 1159728"/>
                <a:gd name="csX5" fmla="*/ 2041799 w 2309429"/>
                <a:gd name="csY5" fmla="*/ 1159728 h 1159728"/>
                <a:gd name="csX6" fmla="*/ 112638 w 2309429"/>
                <a:gd name="csY6" fmla="*/ 1159728 h 1159728"/>
                <a:gd name="csX7" fmla="*/ 112638 w 2309429"/>
                <a:gd name="csY7" fmla="*/ 1155207 h 1159728"/>
                <a:gd name="csX8" fmla="*/ 82469 w 2309429"/>
                <a:gd name="csY8" fmla="*/ 1149116 h 1159728"/>
                <a:gd name="csX9" fmla="*/ 0 w 2309429"/>
                <a:gd name="csY9" fmla="*/ 1024700 h 1159728"/>
                <a:gd name="csX10" fmla="*/ 0 w 2309429"/>
                <a:gd name="csY10" fmla="*/ 135027 h 1159728"/>
                <a:gd name="csX11" fmla="*/ 82469 w 2309429"/>
                <a:gd name="csY11" fmla="*/ 10611 h 1159728"/>
                <a:gd name="csX12" fmla="*/ 112638 w 2309429"/>
                <a:gd name="csY12" fmla="*/ 4520 h 1159728"/>
                <a:gd name="csX13" fmla="*/ 112638 w 2309429"/>
                <a:gd name="csY13" fmla="*/ 1 h 1159728"/>
                <a:gd name="csX14" fmla="*/ 135022 w 2309429"/>
                <a:gd name="csY14" fmla="*/ 1 h 1159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309429" h="1159728">
                  <a:moveTo>
                    <a:pt x="135027" y="0"/>
                  </a:moveTo>
                  <a:lnTo>
                    <a:pt x="1252904" y="0"/>
                  </a:lnTo>
                  <a:lnTo>
                    <a:pt x="1252909" y="1"/>
                  </a:lnTo>
                  <a:lnTo>
                    <a:pt x="2041799" y="1"/>
                  </a:lnTo>
                  <a:lnTo>
                    <a:pt x="2309429" y="579865"/>
                  </a:lnTo>
                  <a:lnTo>
                    <a:pt x="2041799" y="1159728"/>
                  </a:lnTo>
                  <a:lnTo>
                    <a:pt x="112638" y="1159728"/>
                  </a:lnTo>
                  <a:lnTo>
                    <a:pt x="112638" y="1155207"/>
                  </a:lnTo>
                  <a:lnTo>
                    <a:pt x="82469" y="1149116"/>
                  </a:lnTo>
                  <a:cubicBezTo>
                    <a:pt x="34005" y="1128618"/>
                    <a:pt x="0" y="1080630"/>
                    <a:pt x="0" y="1024700"/>
                  </a:cubicBezTo>
                  <a:lnTo>
                    <a:pt x="0" y="135027"/>
                  </a:lnTo>
                  <a:cubicBezTo>
                    <a:pt x="0" y="79097"/>
                    <a:pt x="34005" y="31110"/>
                    <a:pt x="82469" y="10611"/>
                  </a:cubicBezTo>
                  <a:lnTo>
                    <a:pt x="112638" y="4520"/>
                  </a:lnTo>
                  <a:lnTo>
                    <a:pt x="112638" y="1"/>
                  </a:lnTo>
                  <a:lnTo>
                    <a:pt x="135022" y="1"/>
                  </a:lnTo>
                  <a:close/>
                </a:path>
              </a:pathLst>
            </a:custGeom>
            <a:solidFill>
              <a:srgbClr val="A2A1B9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5A36E991-91D5-825D-B1B4-9B77283B8AD2}"/>
              </a:ext>
            </a:extLst>
          </p:cNvPr>
          <p:cNvGrpSpPr/>
          <p:nvPr/>
        </p:nvGrpSpPr>
        <p:grpSpPr>
          <a:xfrm>
            <a:off x="2614567" y="2875846"/>
            <a:ext cx="6642100" cy="3105854"/>
            <a:chOff x="2614567" y="3040946"/>
            <a:chExt cx="6642100" cy="3105854"/>
          </a:xfrm>
        </p:grpSpPr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A5D6F16-71BC-98F0-0AFE-0EB6F1701BAE}"/>
                </a:ext>
              </a:extLst>
            </p:cNvPr>
            <p:cNvCxnSpPr/>
            <p:nvPr/>
          </p:nvCxnSpPr>
          <p:spPr>
            <a:xfrm>
              <a:off x="2614567" y="3044045"/>
              <a:ext cx="0" cy="3093154"/>
            </a:xfrm>
            <a:prstGeom prst="line">
              <a:avLst/>
            </a:prstGeom>
            <a:ln>
              <a:solidFill>
                <a:srgbClr val="A2A1B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0EA1A5D3-9D6D-A232-DB2E-69E76674BCB2}"/>
                </a:ext>
              </a:extLst>
            </p:cNvPr>
            <p:cNvCxnSpPr/>
            <p:nvPr/>
          </p:nvCxnSpPr>
          <p:spPr>
            <a:xfrm>
              <a:off x="4811667" y="3044045"/>
              <a:ext cx="0" cy="3093154"/>
            </a:xfrm>
            <a:prstGeom prst="line">
              <a:avLst/>
            </a:prstGeom>
            <a:ln>
              <a:solidFill>
                <a:srgbClr val="A2A1B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F9B645C3-5251-69DB-8E09-596EA8BD3ACC}"/>
                </a:ext>
              </a:extLst>
            </p:cNvPr>
            <p:cNvCxnSpPr/>
            <p:nvPr/>
          </p:nvCxnSpPr>
          <p:spPr>
            <a:xfrm>
              <a:off x="7021467" y="3040946"/>
              <a:ext cx="0" cy="3093154"/>
            </a:xfrm>
            <a:prstGeom prst="line">
              <a:avLst/>
            </a:prstGeom>
            <a:ln>
              <a:solidFill>
                <a:srgbClr val="A2A1B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3AA0C7A-0BC0-736C-58E0-55AE10654F3B}"/>
                </a:ext>
              </a:extLst>
            </p:cNvPr>
            <p:cNvCxnSpPr/>
            <p:nvPr/>
          </p:nvCxnSpPr>
          <p:spPr>
            <a:xfrm>
              <a:off x="9256667" y="3053646"/>
              <a:ext cx="0" cy="3093154"/>
            </a:xfrm>
            <a:prstGeom prst="line">
              <a:avLst/>
            </a:prstGeom>
            <a:ln>
              <a:solidFill>
                <a:srgbClr val="A2A1B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74C78C6C-A520-8C9C-10AD-A317113929E9}"/>
              </a:ext>
            </a:extLst>
          </p:cNvPr>
          <p:cNvSpPr/>
          <p:nvPr/>
        </p:nvSpPr>
        <p:spPr>
          <a:xfrm>
            <a:off x="714206" y="3249807"/>
            <a:ext cx="1672166" cy="74637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A2A1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E22CF5B5-2E3F-743C-9183-39963415661A}"/>
              </a:ext>
            </a:extLst>
          </p:cNvPr>
          <p:cNvSpPr/>
          <p:nvPr/>
        </p:nvSpPr>
        <p:spPr>
          <a:xfrm>
            <a:off x="714206" y="4340947"/>
            <a:ext cx="1672166" cy="74637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A2A1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A66E0AD8-6F19-29E4-CEEC-C73751B432F5}"/>
              </a:ext>
            </a:extLst>
          </p:cNvPr>
          <p:cNvGrpSpPr/>
          <p:nvPr/>
        </p:nvGrpSpPr>
        <p:grpSpPr>
          <a:xfrm>
            <a:off x="2892942" y="2940996"/>
            <a:ext cx="1672166" cy="2428729"/>
            <a:chOff x="2892942" y="2991511"/>
            <a:chExt cx="1672166" cy="2428729"/>
          </a:xfrm>
        </p:grpSpPr>
        <p:sp>
          <p:nvSpPr>
            <p:cNvPr id="57" name="四角形: 角を丸くする 56">
              <a:extLst>
                <a:ext uri="{FF2B5EF4-FFF2-40B4-BE49-F238E27FC236}">
                  <a16:creationId xmlns:a16="http://schemas.microsoft.com/office/drawing/2014/main" id="{55289A24-12AD-5B54-4891-5155CDF2CE25}"/>
                </a:ext>
              </a:extLst>
            </p:cNvPr>
            <p:cNvSpPr/>
            <p:nvPr/>
          </p:nvSpPr>
          <p:spPr>
            <a:xfrm>
              <a:off x="2892942" y="299151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四角形: 角を丸くする 57">
              <a:extLst>
                <a:ext uri="{FF2B5EF4-FFF2-40B4-BE49-F238E27FC236}">
                  <a16:creationId xmlns:a16="http://schemas.microsoft.com/office/drawing/2014/main" id="{475DE76E-5516-3AF2-DAEF-F164247F0337}"/>
                </a:ext>
              </a:extLst>
            </p:cNvPr>
            <p:cNvSpPr/>
            <p:nvPr/>
          </p:nvSpPr>
          <p:spPr>
            <a:xfrm>
              <a:off x="2892942" y="3832686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四角形: 角を丸くする 60">
              <a:extLst>
                <a:ext uri="{FF2B5EF4-FFF2-40B4-BE49-F238E27FC236}">
                  <a16:creationId xmlns:a16="http://schemas.microsoft.com/office/drawing/2014/main" id="{DD4EFFA4-B808-A1CB-B584-285C1163841F}"/>
                </a:ext>
              </a:extLst>
            </p:cNvPr>
            <p:cNvSpPr/>
            <p:nvPr/>
          </p:nvSpPr>
          <p:spPr>
            <a:xfrm>
              <a:off x="2892942" y="467386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681196EB-8FCA-8963-6C73-0F5C6075DCF7}"/>
              </a:ext>
            </a:extLst>
          </p:cNvPr>
          <p:cNvSpPr/>
          <p:nvPr/>
        </p:nvSpPr>
        <p:spPr>
          <a:xfrm>
            <a:off x="510632" y="5515036"/>
            <a:ext cx="11151212" cy="1104708"/>
          </a:xfrm>
          <a:prstGeom prst="roundRect">
            <a:avLst/>
          </a:prstGeom>
          <a:solidFill>
            <a:srgbClr val="F1F1F5"/>
          </a:solidFill>
          <a:ln w="38100">
            <a:solidFill>
              <a:srgbClr val="252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rgbClr val="252430"/>
                </a:solidFill>
              </a:rPr>
              <a:t>情報がバラバラで、</a:t>
            </a:r>
            <a:r>
              <a:rPr kumimoji="1" lang="en-US" altLang="ja-JP" sz="3200" dirty="0">
                <a:solidFill>
                  <a:srgbClr val="252430"/>
                </a:solidFill>
              </a:rPr>
              <a:t>AI</a:t>
            </a:r>
            <a:r>
              <a:rPr kumimoji="1" lang="ja-JP" altLang="en-US" sz="3200" dirty="0">
                <a:solidFill>
                  <a:srgbClr val="252430"/>
                </a:solidFill>
              </a:rPr>
              <a:t>がそのまま業務を実行できない</a:t>
            </a:r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BF726F88-5822-E999-AB1E-46B3F45951A2}"/>
              </a:ext>
            </a:extLst>
          </p:cNvPr>
          <p:cNvGrpSpPr/>
          <p:nvPr/>
        </p:nvGrpSpPr>
        <p:grpSpPr>
          <a:xfrm>
            <a:off x="5121106" y="2940996"/>
            <a:ext cx="1672166" cy="2428729"/>
            <a:chOff x="2892942" y="2991511"/>
            <a:chExt cx="1672166" cy="2428729"/>
          </a:xfrm>
        </p:grpSpPr>
        <p:sp>
          <p:nvSpPr>
            <p:cNvPr id="81" name="四角形: 角を丸くする 80">
              <a:extLst>
                <a:ext uri="{FF2B5EF4-FFF2-40B4-BE49-F238E27FC236}">
                  <a16:creationId xmlns:a16="http://schemas.microsoft.com/office/drawing/2014/main" id="{AB52D2FA-3A25-01E1-F906-44B5CBBA0D20}"/>
                </a:ext>
              </a:extLst>
            </p:cNvPr>
            <p:cNvSpPr/>
            <p:nvPr/>
          </p:nvSpPr>
          <p:spPr>
            <a:xfrm>
              <a:off x="2892942" y="299151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四角形: 角を丸くする 81">
              <a:extLst>
                <a:ext uri="{FF2B5EF4-FFF2-40B4-BE49-F238E27FC236}">
                  <a16:creationId xmlns:a16="http://schemas.microsoft.com/office/drawing/2014/main" id="{97E697C1-128F-7204-3E14-565A26DE0301}"/>
                </a:ext>
              </a:extLst>
            </p:cNvPr>
            <p:cNvSpPr/>
            <p:nvPr/>
          </p:nvSpPr>
          <p:spPr>
            <a:xfrm>
              <a:off x="2892942" y="3832686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四角形: 角を丸くする 82">
              <a:extLst>
                <a:ext uri="{FF2B5EF4-FFF2-40B4-BE49-F238E27FC236}">
                  <a16:creationId xmlns:a16="http://schemas.microsoft.com/office/drawing/2014/main" id="{4D4A6E80-A20D-75FA-2AE1-A62F62CB53D5}"/>
                </a:ext>
              </a:extLst>
            </p:cNvPr>
            <p:cNvSpPr/>
            <p:nvPr/>
          </p:nvSpPr>
          <p:spPr>
            <a:xfrm>
              <a:off x="2892942" y="467386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D992775D-3A59-E2E0-36FE-C767D51933F1}"/>
              </a:ext>
            </a:extLst>
          </p:cNvPr>
          <p:cNvGrpSpPr/>
          <p:nvPr/>
        </p:nvGrpSpPr>
        <p:grpSpPr>
          <a:xfrm>
            <a:off x="7349270" y="2940996"/>
            <a:ext cx="1672166" cy="2428729"/>
            <a:chOff x="2892942" y="2991511"/>
            <a:chExt cx="1672166" cy="2428729"/>
          </a:xfrm>
        </p:grpSpPr>
        <p:sp>
          <p:nvSpPr>
            <p:cNvPr id="85" name="四角形: 角を丸くする 84">
              <a:extLst>
                <a:ext uri="{FF2B5EF4-FFF2-40B4-BE49-F238E27FC236}">
                  <a16:creationId xmlns:a16="http://schemas.microsoft.com/office/drawing/2014/main" id="{9C1792C0-65EA-2194-6025-E3819626DFAB}"/>
                </a:ext>
              </a:extLst>
            </p:cNvPr>
            <p:cNvSpPr/>
            <p:nvPr/>
          </p:nvSpPr>
          <p:spPr>
            <a:xfrm>
              <a:off x="2892942" y="299151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四角形: 角を丸くする 85">
              <a:extLst>
                <a:ext uri="{FF2B5EF4-FFF2-40B4-BE49-F238E27FC236}">
                  <a16:creationId xmlns:a16="http://schemas.microsoft.com/office/drawing/2014/main" id="{932D795B-A51C-779C-C515-BA37A061864C}"/>
                </a:ext>
              </a:extLst>
            </p:cNvPr>
            <p:cNvSpPr/>
            <p:nvPr/>
          </p:nvSpPr>
          <p:spPr>
            <a:xfrm>
              <a:off x="2892942" y="3832686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四角形: 角を丸くする 86">
              <a:extLst>
                <a:ext uri="{FF2B5EF4-FFF2-40B4-BE49-F238E27FC236}">
                  <a16:creationId xmlns:a16="http://schemas.microsoft.com/office/drawing/2014/main" id="{9EA76CE0-9DD6-173C-2F0B-5CA689222EC9}"/>
                </a:ext>
              </a:extLst>
            </p:cNvPr>
            <p:cNvSpPr/>
            <p:nvPr/>
          </p:nvSpPr>
          <p:spPr>
            <a:xfrm>
              <a:off x="2892942" y="467386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7BC70111-CA8F-B155-81CF-E1B3119C57E2}"/>
              </a:ext>
            </a:extLst>
          </p:cNvPr>
          <p:cNvGrpSpPr/>
          <p:nvPr/>
        </p:nvGrpSpPr>
        <p:grpSpPr>
          <a:xfrm>
            <a:off x="9577433" y="2940996"/>
            <a:ext cx="1672166" cy="2428729"/>
            <a:chOff x="2892942" y="2991511"/>
            <a:chExt cx="1672166" cy="2428729"/>
          </a:xfrm>
        </p:grpSpPr>
        <p:sp>
          <p:nvSpPr>
            <p:cNvPr id="98" name="四角形: 角を丸くする 97">
              <a:extLst>
                <a:ext uri="{FF2B5EF4-FFF2-40B4-BE49-F238E27FC236}">
                  <a16:creationId xmlns:a16="http://schemas.microsoft.com/office/drawing/2014/main" id="{DA756C20-97ED-7C55-6909-300575429F43}"/>
                </a:ext>
              </a:extLst>
            </p:cNvPr>
            <p:cNvSpPr/>
            <p:nvPr/>
          </p:nvSpPr>
          <p:spPr>
            <a:xfrm>
              <a:off x="2892942" y="299151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四角形: 角を丸くする 98">
              <a:extLst>
                <a:ext uri="{FF2B5EF4-FFF2-40B4-BE49-F238E27FC236}">
                  <a16:creationId xmlns:a16="http://schemas.microsoft.com/office/drawing/2014/main" id="{D6E11806-ADB5-27E6-197F-1A2BAF41BC80}"/>
                </a:ext>
              </a:extLst>
            </p:cNvPr>
            <p:cNvSpPr/>
            <p:nvPr/>
          </p:nvSpPr>
          <p:spPr>
            <a:xfrm>
              <a:off x="2892942" y="3832686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四角形: 角を丸くする 99">
              <a:extLst>
                <a:ext uri="{FF2B5EF4-FFF2-40B4-BE49-F238E27FC236}">
                  <a16:creationId xmlns:a16="http://schemas.microsoft.com/office/drawing/2014/main" id="{C153E53C-3AF5-E94E-2699-767C5DEA6339}"/>
                </a:ext>
              </a:extLst>
            </p:cNvPr>
            <p:cNvSpPr/>
            <p:nvPr/>
          </p:nvSpPr>
          <p:spPr>
            <a:xfrm>
              <a:off x="2892942" y="4673861"/>
              <a:ext cx="1672166" cy="74637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A2A1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B5A29353-1703-99F9-EC27-699A136D2DC8}"/>
              </a:ext>
            </a:extLst>
          </p:cNvPr>
          <p:cNvSpPr txBox="1"/>
          <p:nvPr/>
        </p:nvSpPr>
        <p:spPr>
          <a:xfrm>
            <a:off x="776573" y="1920981"/>
            <a:ext cx="120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rgbClr val="18171F"/>
                </a:solidFill>
              </a:rPr>
              <a:t>船社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6D4AD6A3-41B3-281C-ABC2-634DF7194E46}"/>
              </a:ext>
            </a:extLst>
          </p:cNvPr>
          <p:cNvSpPr txBox="1"/>
          <p:nvPr/>
        </p:nvSpPr>
        <p:spPr>
          <a:xfrm>
            <a:off x="5567184" y="1920981"/>
            <a:ext cx="120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18171F"/>
                </a:solidFill>
              </a:rPr>
              <a:t>通関</a:t>
            </a:r>
            <a:endParaRPr kumimoji="1" lang="ja-JP" altLang="en-US" sz="2400" dirty="0">
              <a:solidFill>
                <a:srgbClr val="18171F"/>
              </a:solidFill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5AB37F4F-7AE6-0494-1797-8308CF6DD820}"/>
              </a:ext>
            </a:extLst>
          </p:cNvPr>
          <p:cNvSpPr txBox="1"/>
          <p:nvPr/>
        </p:nvSpPr>
        <p:spPr>
          <a:xfrm>
            <a:off x="2468393" y="1940248"/>
            <a:ext cx="2570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18171F"/>
                </a:solidFill>
              </a:rPr>
              <a:t>フォワーダー</a:t>
            </a:r>
            <a:endParaRPr kumimoji="1" lang="ja-JP" altLang="en-US" sz="2400" dirty="0">
              <a:solidFill>
                <a:srgbClr val="18171F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012E9863-C42A-FED8-5C33-FF9B183A8370}"/>
              </a:ext>
            </a:extLst>
          </p:cNvPr>
          <p:cNvSpPr txBox="1"/>
          <p:nvPr/>
        </p:nvSpPr>
        <p:spPr>
          <a:xfrm>
            <a:off x="7960158" y="1920981"/>
            <a:ext cx="120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18171F"/>
                </a:solidFill>
              </a:rPr>
              <a:t>倉庫</a:t>
            </a:r>
            <a:endParaRPr kumimoji="1" lang="ja-JP" altLang="en-US" sz="2400" dirty="0">
              <a:solidFill>
                <a:srgbClr val="18171F"/>
              </a:solidFill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6BA4554A-15DD-82AF-E17B-9C4861E93110}"/>
              </a:ext>
            </a:extLst>
          </p:cNvPr>
          <p:cNvSpPr txBox="1"/>
          <p:nvPr/>
        </p:nvSpPr>
        <p:spPr>
          <a:xfrm>
            <a:off x="10201081" y="1920981"/>
            <a:ext cx="120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rgbClr val="18171F"/>
                </a:solidFill>
              </a:rPr>
              <a:t>荷主</a:t>
            </a:r>
          </a:p>
        </p:txBody>
      </p: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25C1D9B4-DE6E-D6C0-D8D5-73DBBD19A7EB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2386372" y="3314186"/>
            <a:ext cx="506570" cy="308811"/>
          </a:xfrm>
          <a:prstGeom prst="straightConnector1">
            <a:avLst/>
          </a:prstGeom>
          <a:ln w="57150">
            <a:solidFill>
              <a:srgbClr val="2524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A568FAC7-1982-AC25-4D9F-01A52A14361D}"/>
              </a:ext>
            </a:extLst>
          </p:cNvPr>
          <p:cNvCxnSpPr>
            <a:cxnSpLocks/>
            <a:stCxn id="58" idx="1"/>
            <a:endCxn id="55" idx="3"/>
          </p:cNvCxnSpPr>
          <p:nvPr/>
        </p:nvCxnSpPr>
        <p:spPr>
          <a:xfrm flipH="1" flipV="1">
            <a:off x="2386372" y="3622997"/>
            <a:ext cx="506570" cy="532364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711E06C-7AE7-CCD2-02DB-327AED7CE31C}"/>
              </a:ext>
            </a:extLst>
          </p:cNvPr>
          <p:cNvCxnSpPr>
            <a:cxnSpLocks/>
            <a:stCxn id="61" idx="1"/>
            <a:endCxn id="55" idx="3"/>
          </p:cNvCxnSpPr>
          <p:nvPr/>
        </p:nvCxnSpPr>
        <p:spPr>
          <a:xfrm flipH="1" flipV="1">
            <a:off x="2386372" y="3622997"/>
            <a:ext cx="506570" cy="1373539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EBD0920D-B381-FB3F-765E-A5AE6EDA98AC}"/>
              </a:ext>
            </a:extLst>
          </p:cNvPr>
          <p:cNvCxnSpPr>
            <a:cxnSpLocks/>
            <a:stCxn id="61" idx="1"/>
            <a:endCxn id="56" idx="3"/>
          </p:cNvCxnSpPr>
          <p:nvPr/>
        </p:nvCxnSpPr>
        <p:spPr>
          <a:xfrm flipH="1" flipV="1">
            <a:off x="2386372" y="4714137"/>
            <a:ext cx="506570" cy="282399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ED6700F3-9429-4E7B-60A2-B722B3B915B4}"/>
              </a:ext>
            </a:extLst>
          </p:cNvPr>
          <p:cNvCxnSpPr>
            <a:cxnSpLocks/>
            <a:stCxn id="82" idx="1"/>
            <a:endCxn id="57" idx="3"/>
          </p:cNvCxnSpPr>
          <p:nvPr/>
        </p:nvCxnSpPr>
        <p:spPr>
          <a:xfrm flipH="1" flipV="1">
            <a:off x="4565108" y="3314186"/>
            <a:ext cx="555998" cy="841175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A98AFFD-30C5-5D98-64EC-91B14563782A}"/>
              </a:ext>
            </a:extLst>
          </p:cNvPr>
          <p:cNvCxnSpPr>
            <a:cxnSpLocks/>
            <a:stCxn id="82" idx="1"/>
            <a:endCxn id="61" idx="3"/>
          </p:cNvCxnSpPr>
          <p:nvPr/>
        </p:nvCxnSpPr>
        <p:spPr>
          <a:xfrm flipH="1">
            <a:off x="4565108" y="4155361"/>
            <a:ext cx="555998" cy="841175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3C71B3D7-7EB2-9AF7-1B45-3DA29F4C2818}"/>
              </a:ext>
            </a:extLst>
          </p:cNvPr>
          <p:cNvCxnSpPr>
            <a:cxnSpLocks/>
            <a:stCxn id="85" idx="1"/>
            <a:endCxn id="81" idx="3"/>
          </p:cNvCxnSpPr>
          <p:nvPr/>
        </p:nvCxnSpPr>
        <p:spPr>
          <a:xfrm flipH="1">
            <a:off x="6793272" y="3314186"/>
            <a:ext cx="555998" cy="0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813C1C5C-7DAA-2997-A3EC-D5C5BA9E715B}"/>
              </a:ext>
            </a:extLst>
          </p:cNvPr>
          <p:cNvCxnSpPr>
            <a:cxnSpLocks/>
            <a:stCxn id="85" idx="1"/>
            <a:endCxn id="82" idx="3"/>
          </p:cNvCxnSpPr>
          <p:nvPr/>
        </p:nvCxnSpPr>
        <p:spPr>
          <a:xfrm flipH="1">
            <a:off x="6793272" y="3314186"/>
            <a:ext cx="555998" cy="841175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72F5BE42-B216-98DB-9576-D2A2492AD49A}"/>
              </a:ext>
            </a:extLst>
          </p:cNvPr>
          <p:cNvCxnSpPr>
            <a:cxnSpLocks/>
            <a:stCxn id="82" idx="3"/>
            <a:endCxn id="87" idx="1"/>
          </p:cNvCxnSpPr>
          <p:nvPr/>
        </p:nvCxnSpPr>
        <p:spPr>
          <a:xfrm>
            <a:off x="6793272" y="4155361"/>
            <a:ext cx="555998" cy="841175"/>
          </a:xfrm>
          <a:prstGeom prst="straightConnector1">
            <a:avLst/>
          </a:prstGeom>
          <a:ln w="57150">
            <a:solidFill>
              <a:srgbClr val="2524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CCEC5854-D39F-65CF-1FD7-B56B15040628}"/>
              </a:ext>
            </a:extLst>
          </p:cNvPr>
          <p:cNvCxnSpPr>
            <a:cxnSpLocks/>
            <a:stCxn id="58" idx="3"/>
            <a:endCxn id="83" idx="1"/>
          </p:cNvCxnSpPr>
          <p:nvPr/>
        </p:nvCxnSpPr>
        <p:spPr>
          <a:xfrm>
            <a:off x="4565108" y="4155361"/>
            <a:ext cx="555998" cy="841175"/>
          </a:xfrm>
          <a:prstGeom prst="straightConnector1">
            <a:avLst/>
          </a:prstGeom>
          <a:ln w="57150">
            <a:solidFill>
              <a:srgbClr val="2524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9AB7CE8B-6FAA-A845-9BEE-70CAB92E3DDE}"/>
              </a:ext>
            </a:extLst>
          </p:cNvPr>
          <p:cNvCxnSpPr>
            <a:cxnSpLocks/>
            <a:stCxn id="61" idx="3"/>
            <a:endCxn id="83" idx="1"/>
          </p:cNvCxnSpPr>
          <p:nvPr/>
        </p:nvCxnSpPr>
        <p:spPr>
          <a:xfrm>
            <a:off x="4565108" y="4996536"/>
            <a:ext cx="555998" cy="0"/>
          </a:xfrm>
          <a:prstGeom prst="straightConnector1">
            <a:avLst/>
          </a:prstGeom>
          <a:ln w="57150">
            <a:solidFill>
              <a:srgbClr val="2524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D60D4BAD-0C6C-7CEB-6A1F-370C8ACA75D6}"/>
              </a:ext>
            </a:extLst>
          </p:cNvPr>
          <p:cNvCxnSpPr>
            <a:cxnSpLocks/>
            <a:stCxn id="83" idx="3"/>
            <a:endCxn id="87" idx="1"/>
          </p:cNvCxnSpPr>
          <p:nvPr/>
        </p:nvCxnSpPr>
        <p:spPr>
          <a:xfrm>
            <a:off x="6793272" y="4996536"/>
            <a:ext cx="555998" cy="0"/>
          </a:xfrm>
          <a:prstGeom prst="straightConnector1">
            <a:avLst/>
          </a:prstGeom>
          <a:ln w="57150">
            <a:solidFill>
              <a:srgbClr val="25243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6FB6482E-0C85-ED45-C647-C70C526EBDE6}"/>
              </a:ext>
            </a:extLst>
          </p:cNvPr>
          <p:cNvCxnSpPr>
            <a:cxnSpLocks/>
            <a:stCxn id="98" idx="1"/>
            <a:endCxn id="85" idx="3"/>
          </p:cNvCxnSpPr>
          <p:nvPr/>
        </p:nvCxnSpPr>
        <p:spPr>
          <a:xfrm flipH="1">
            <a:off x="9021436" y="3314186"/>
            <a:ext cx="555997" cy="0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D8251F8F-94AA-1038-030C-2A7F1F23CE96}"/>
              </a:ext>
            </a:extLst>
          </p:cNvPr>
          <p:cNvCxnSpPr>
            <a:cxnSpLocks/>
            <a:stCxn id="87" idx="3"/>
            <a:endCxn id="100" idx="1"/>
          </p:cNvCxnSpPr>
          <p:nvPr/>
        </p:nvCxnSpPr>
        <p:spPr>
          <a:xfrm>
            <a:off x="9021436" y="4996536"/>
            <a:ext cx="555997" cy="0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97A970DB-527B-5627-F599-2ACECDB135C3}"/>
              </a:ext>
            </a:extLst>
          </p:cNvPr>
          <p:cNvCxnSpPr>
            <a:cxnSpLocks/>
            <a:stCxn id="99" idx="1"/>
            <a:endCxn id="86" idx="3"/>
          </p:cNvCxnSpPr>
          <p:nvPr/>
        </p:nvCxnSpPr>
        <p:spPr>
          <a:xfrm flipH="1">
            <a:off x="9021436" y="4155361"/>
            <a:ext cx="555997" cy="0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DD690E46-CEFE-6159-EC67-94444BE6B3B4}"/>
              </a:ext>
            </a:extLst>
          </p:cNvPr>
          <p:cNvCxnSpPr>
            <a:cxnSpLocks/>
            <a:stCxn id="86" idx="3"/>
            <a:endCxn id="98" idx="1"/>
          </p:cNvCxnSpPr>
          <p:nvPr/>
        </p:nvCxnSpPr>
        <p:spPr>
          <a:xfrm flipV="1">
            <a:off x="9021436" y="3314186"/>
            <a:ext cx="555997" cy="841175"/>
          </a:xfrm>
          <a:prstGeom prst="straightConnector1">
            <a:avLst/>
          </a:prstGeom>
          <a:ln w="57150">
            <a:solidFill>
              <a:srgbClr val="25243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728ACFC7-380B-28C2-4301-0E8FC79931D4}"/>
              </a:ext>
            </a:extLst>
          </p:cNvPr>
          <p:cNvSpPr txBox="1"/>
          <p:nvPr/>
        </p:nvSpPr>
        <p:spPr>
          <a:xfrm>
            <a:off x="806309" y="4554962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solidFill>
                  <a:srgbClr val="18171F"/>
                </a:solidFill>
              </a:rPr>
              <a:t>PDF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4D5E0AC1-368C-9888-8B77-5610DA866BEF}"/>
              </a:ext>
            </a:extLst>
          </p:cNvPr>
          <p:cNvGrpSpPr/>
          <p:nvPr/>
        </p:nvGrpSpPr>
        <p:grpSpPr>
          <a:xfrm>
            <a:off x="875602" y="3346931"/>
            <a:ext cx="1799481" cy="536290"/>
            <a:chOff x="794414" y="3366989"/>
            <a:chExt cx="1799481" cy="536290"/>
          </a:xfrm>
        </p:grpSpPr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18D63BF0-DF23-EA8F-CA71-78A848ED1F1C}"/>
                </a:ext>
              </a:extLst>
            </p:cNvPr>
            <p:cNvSpPr txBox="1"/>
            <p:nvPr/>
          </p:nvSpPr>
          <p:spPr>
            <a:xfrm>
              <a:off x="799142" y="3448783"/>
              <a:ext cx="17947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rgbClr val="18171F"/>
                  </a:solidFill>
                </a:rPr>
                <a:t>メール</a:t>
              </a:r>
            </a:p>
          </p:txBody>
        </p:sp>
        <p:pic>
          <p:nvPicPr>
            <p:cNvPr id="168" name="グラフィックス 167" descr="封筒 枠線">
              <a:extLst>
                <a:ext uri="{FF2B5EF4-FFF2-40B4-BE49-F238E27FC236}">
                  <a16:creationId xmlns:a16="http://schemas.microsoft.com/office/drawing/2014/main" id="{E8392036-FA41-1B26-9CE0-10F7A2F731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4414" y="3366989"/>
              <a:ext cx="536290" cy="536290"/>
            </a:xfrm>
            <a:prstGeom prst="rect">
              <a:avLst/>
            </a:prstGeom>
          </p:spPr>
        </p:pic>
      </p:grpSp>
      <p:grpSp>
        <p:nvGrpSpPr>
          <p:cNvPr id="170" name="グループ化 169">
            <a:extLst>
              <a:ext uri="{FF2B5EF4-FFF2-40B4-BE49-F238E27FC236}">
                <a16:creationId xmlns:a16="http://schemas.microsoft.com/office/drawing/2014/main" id="{79952B2D-0D16-BDEC-8971-A5EA222F7767}"/>
              </a:ext>
            </a:extLst>
          </p:cNvPr>
          <p:cNvGrpSpPr/>
          <p:nvPr/>
        </p:nvGrpSpPr>
        <p:grpSpPr>
          <a:xfrm>
            <a:off x="3024886" y="3048109"/>
            <a:ext cx="1799481" cy="536290"/>
            <a:chOff x="794414" y="3366989"/>
            <a:chExt cx="1799481" cy="536290"/>
          </a:xfrm>
        </p:grpSpPr>
        <p:sp>
          <p:nvSpPr>
            <p:cNvPr id="171" name="テキスト ボックス 170">
              <a:extLst>
                <a:ext uri="{FF2B5EF4-FFF2-40B4-BE49-F238E27FC236}">
                  <a16:creationId xmlns:a16="http://schemas.microsoft.com/office/drawing/2014/main" id="{7BCCB6AD-6995-0E4D-68D6-E6A5E9FE9ADA}"/>
                </a:ext>
              </a:extLst>
            </p:cNvPr>
            <p:cNvSpPr txBox="1"/>
            <p:nvPr/>
          </p:nvSpPr>
          <p:spPr>
            <a:xfrm>
              <a:off x="799142" y="3448783"/>
              <a:ext cx="17947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rgbClr val="18171F"/>
                  </a:solidFill>
                </a:rPr>
                <a:t>メール</a:t>
              </a:r>
            </a:p>
          </p:txBody>
        </p:sp>
        <p:pic>
          <p:nvPicPr>
            <p:cNvPr id="172" name="グラフィックス 171" descr="封筒 枠線">
              <a:extLst>
                <a:ext uri="{FF2B5EF4-FFF2-40B4-BE49-F238E27FC236}">
                  <a16:creationId xmlns:a16="http://schemas.microsoft.com/office/drawing/2014/main" id="{DD065DE4-303E-754E-FD74-BAF5C28E5F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4414" y="3366989"/>
              <a:ext cx="536290" cy="536290"/>
            </a:xfrm>
            <a:prstGeom prst="rect">
              <a:avLst/>
            </a:prstGeom>
          </p:spPr>
        </p:pic>
      </p:grp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0A2BA6A6-769B-C76D-F501-851F32DBCE81}"/>
              </a:ext>
            </a:extLst>
          </p:cNvPr>
          <p:cNvGrpSpPr/>
          <p:nvPr/>
        </p:nvGrpSpPr>
        <p:grpSpPr>
          <a:xfrm>
            <a:off x="7542720" y="4743604"/>
            <a:ext cx="1799481" cy="536290"/>
            <a:chOff x="794414" y="3366989"/>
            <a:chExt cx="1799481" cy="536290"/>
          </a:xfrm>
        </p:grpSpPr>
        <p:sp>
          <p:nvSpPr>
            <p:cNvPr id="181" name="テキスト ボックス 180">
              <a:extLst>
                <a:ext uri="{FF2B5EF4-FFF2-40B4-BE49-F238E27FC236}">
                  <a16:creationId xmlns:a16="http://schemas.microsoft.com/office/drawing/2014/main" id="{08A4C98A-E907-32D2-2EF4-2E31223F7639}"/>
                </a:ext>
              </a:extLst>
            </p:cNvPr>
            <p:cNvSpPr txBox="1"/>
            <p:nvPr/>
          </p:nvSpPr>
          <p:spPr>
            <a:xfrm>
              <a:off x="799142" y="3448783"/>
              <a:ext cx="17947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rgbClr val="18171F"/>
                  </a:solidFill>
                </a:rPr>
                <a:t>メール</a:t>
              </a:r>
            </a:p>
          </p:txBody>
        </p:sp>
        <p:pic>
          <p:nvPicPr>
            <p:cNvPr id="182" name="グラフィックス 181" descr="封筒 枠線">
              <a:extLst>
                <a:ext uri="{FF2B5EF4-FFF2-40B4-BE49-F238E27FC236}">
                  <a16:creationId xmlns:a16="http://schemas.microsoft.com/office/drawing/2014/main" id="{2C48A91C-38CE-D8EC-A368-165CB6EDE5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4414" y="3366989"/>
              <a:ext cx="536290" cy="536290"/>
            </a:xfrm>
            <a:prstGeom prst="rect">
              <a:avLst/>
            </a:prstGeom>
          </p:spPr>
        </p:pic>
      </p:grpSp>
      <p:grpSp>
        <p:nvGrpSpPr>
          <p:cNvPr id="183" name="グループ化 182">
            <a:extLst>
              <a:ext uri="{FF2B5EF4-FFF2-40B4-BE49-F238E27FC236}">
                <a16:creationId xmlns:a16="http://schemas.microsoft.com/office/drawing/2014/main" id="{A166814B-E703-4E48-9713-2B93BD228B13}"/>
              </a:ext>
            </a:extLst>
          </p:cNvPr>
          <p:cNvGrpSpPr/>
          <p:nvPr/>
        </p:nvGrpSpPr>
        <p:grpSpPr>
          <a:xfrm>
            <a:off x="9692386" y="3029658"/>
            <a:ext cx="1799481" cy="536290"/>
            <a:chOff x="792629" y="3402878"/>
            <a:chExt cx="1799481" cy="536290"/>
          </a:xfrm>
        </p:grpSpPr>
        <p:sp>
          <p:nvSpPr>
            <p:cNvPr id="184" name="テキスト ボックス 183">
              <a:extLst>
                <a:ext uri="{FF2B5EF4-FFF2-40B4-BE49-F238E27FC236}">
                  <a16:creationId xmlns:a16="http://schemas.microsoft.com/office/drawing/2014/main" id="{E82FC467-A686-FC62-8313-90F22270B983}"/>
                </a:ext>
              </a:extLst>
            </p:cNvPr>
            <p:cNvSpPr txBox="1"/>
            <p:nvPr/>
          </p:nvSpPr>
          <p:spPr>
            <a:xfrm>
              <a:off x="797357" y="3484672"/>
              <a:ext cx="17947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rgbClr val="18171F"/>
                  </a:solidFill>
                </a:rPr>
                <a:t>メール</a:t>
              </a:r>
            </a:p>
          </p:txBody>
        </p:sp>
        <p:pic>
          <p:nvPicPr>
            <p:cNvPr id="185" name="グラフィックス 184" descr="封筒 枠線">
              <a:extLst>
                <a:ext uri="{FF2B5EF4-FFF2-40B4-BE49-F238E27FC236}">
                  <a16:creationId xmlns:a16="http://schemas.microsoft.com/office/drawing/2014/main" id="{46FFDE42-29C4-62F0-61E5-D28853468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2629" y="3402878"/>
              <a:ext cx="536290" cy="536290"/>
            </a:xfrm>
            <a:prstGeom prst="rect">
              <a:avLst/>
            </a:prstGeom>
          </p:spPr>
        </p:pic>
      </p:grpSp>
      <p:pic>
        <p:nvPicPr>
          <p:cNvPr id="194" name="図 193">
            <a:extLst>
              <a:ext uri="{FF2B5EF4-FFF2-40B4-BE49-F238E27FC236}">
                <a16:creationId xmlns:a16="http://schemas.microsoft.com/office/drawing/2014/main" id="{DDA70093-9484-59DC-798E-332ACD1D5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927" y="4660079"/>
            <a:ext cx="681706" cy="681706"/>
          </a:xfrm>
          <a:prstGeom prst="rect">
            <a:avLst/>
          </a:prstGeom>
        </p:spPr>
      </p:pic>
      <p:pic>
        <p:nvPicPr>
          <p:cNvPr id="196" name="図 195">
            <a:extLst>
              <a:ext uri="{FF2B5EF4-FFF2-40B4-BE49-F238E27FC236}">
                <a16:creationId xmlns:a16="http://schemas.microsoft.com/office/drawing/2014/main" id="{C9F2CCD5-BC7A-4485-1A2B-4149F7FAD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732" y="3891103"/>
            <a:ext cx="572090" cy="572090"/>
          </a:xfrm>
          <a:prstGeom prst="rect">
            <a:avLst/>
          </a:prstGeom>
        </p:spPr>
      </p:pic>
      <p:pic>
        <p:nvPicPr>
          <p:cNvPr id="198" name="図 197">
            <a:extLst>
              <a:ext uri="{FF2B5EF4-FFF2-40B4-BE49-F238E27FC236}">
                <a16:creationId xmlns:a16="http://schemas.microsoft.com/office/drawing/2014/main" id="{13D3C829-BC8C-E47E-ADA0-65A8841ED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108" y="3030296"/>
            <a:ext cx="522249" cy="522249"/>
          </a:xfrm>
          <a:prstGeom prst="rect">
            <a:avLst/>
          </a:prstGeom>
        </p:spPr>
      </p:pic>
      <p:pic>
        <p:nvPicPr>
          <p:cNvPr id="200" name="図 199">
            <a:extLst>
              <a:ext uri="{FF2B5EF4-FFF2-40B4-BE49-F238E27FC236}">
                <a16:creationId xmlns:a16="http://schemas.microsoft.com/office/drawing/2014/main" id="{3BBC89DE-564A-5DC8-959C-DB97D5960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67" y="4401720"/>
            <a:ext cx="572090" cy="572090"/>
          </a:xfrm>
          <a:prstGeom prst="rect">
            <a:avLst/>
          </a:prstGeom>
        </p:spPr>
      </p:pic>
      <p:pic>
        <p:nvPicPr>
          <p:cNvPr id="201" name="図 200">
            <a:extLst>
              <a:ext uri="{FF2B5EF4-FFF2-40B4-BE49-F238E27FC236}">
                <a16:creationId xmlns:a16="http://schemas.microsoft.com/office/drawing/2014/main" id="{B1B8BBBF-60FF-43B1-C704-B8CEBEC30F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108" y="3875468"/>
            <a:ext cx="572090" cy="572090"/>
          </a:xfrm>
          <a:prstGeom prst="rect">
            <a:avLst/>
          </a:prstGeom>
        </p:spPr>
      </p:pic>
      <p:pic>
        <p:nvPicPr>
          <p:cNvPr id="202" name="図 201">
            <a:extLst>
              <a:ext uri="{FF2B5EF4-FFF2-40B4-BE49-F238E27FC236}">
                <a16:creationId xmlns:a16="http://schemas.microsoft.com/office/drawing/2014/main" id="{2CF3F1C0-A7DD-F142-0CDA-A137F294F4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526" y="4729821"/>
            <a:ext cx="572090" cy="572090"/>
          </a:xfrm>
          <a:prstGeom prst="rect">
            <a:avLst/>
          </a:prstGeom>
        </p:spPr>
      </p:pic>
      <p:pic>
        <p:nvPicPr>
          <p:cNvPr id="205" name="図 204">
            <a:extLst>
              <a:ext uri="{FF2B5EF4-FFF2-40B4-BE49-F238E27FC236}">
                <a16:creationId xmlns:a16="http://schemas.microsoft.com/office/drawing/2014/main" id="{B63A3552-EB7F-1D10-F8C8-CFA7FC575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925" y="3891103"/>
            <a:ext cx="572090" cy="572090"/>
          </a:xfrm>
          <a:prstGeom prst="rect">
            <a:avLst/>
          </a:prstGeom>
        </p:spPr>
      </p:pic>
      <p:pic>
        <p:nvPicPr>
          <p:cNvPr id="206" name="図 205">
            <a:extLst>
              <a:ext uri="{FF2B5EF4-FFF2-40B4-BE49-F238E27FC236}">
                <a16:creationId xmlns:a16="http://schemas.microsoft.com/office/drawing/2014/main" id="{88E2DE2E-0E06-CE09-8B66-BE434A0518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526" y="3832686"/>
            <a:ext cx="572090" cy="572090"/>
          </a:xfrm>
          <a:prstGeom prst="rect">
            <a:avLst/>
          </a:prstGeom>
        </p:spPr>
      </p:pic>
      <p:pic>
        <p:nvPicPr>
          <p:cNvPr id="208" name="図 207">
            <a:extLst>
              <a:ext uri="{FF2B5EF4-FFF2-40B4-BE49-F238E27FC236}">
                <a16:creationId xmlns:a16="http://schemas.microsoft.com/office/drawing/2014/main" id="{9ED7450B-469E-1530-5376-1171B73ACF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986" y="4690694"/>
            <a:ext cx="572090" cy="572090"/>
          </a:xfrm>
          <a:prstGeom prst="rect">
            <a:avLst/>
          </a:prstGeom>
        </p:spPr>
      </p:pic>
      <p:pic>
        <p:nvPicPr>
          <p:cNvPr id="210" name="図 209">
            <a:extLst>
              <a:ext uri="{FF2B5EF4-FFF2-40B4-BE49-F238E27FC236}">
                <a16:creationId xmlns:a16="http://schemas.microsoft.com/office/drawing/2014/main" id="{D5304771-E913-3A8C-F10B-5F7F74D836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1" t="9980" r="54539" b="54294"/>
          <a:stretch>
            <a:fillRect/>
          </a:stretch>
        </p:blipFill>
        <p:spPr>
          <a:xfrm>
            <a:off x="7448925" y="3089668"/>
            <a:ext cx="665536" cy="546589"/>
          </a:xfrm>
          <a:prstGeom prst="rect">
            <a:avLst/>
          </a:prstGeom>
        </p:spPr>
      </p:pic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F03D130D-385D-FF64-D797-A942F3DEBBC8}"/>
              </a:ext>
            </a:extLst>
          </p:cNvPr>
          <p:cNvSpPr txBox="1"/>
          <p:nvPr/>
        </p:nvSpPr>
        <p:spPr>
          <a:xfrm>
            <a:off x="2963805" y="4811487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solidFill>
                  <a:srgbClr val="18171F"/>
                </a:solidFill>
              </a:rPr>
              <a:t>PDF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7936EB3F-F6DB-65B5-C61D-65AE16D1FE50}"/>
              </a:ext>
            </a:extLst>
          </p:cNvPr>
          <p:cNvSpPr txBox="1"/>
          <p:nvPr/>
        </p:nvSpPr>
        <p:spPr>
          <a:xfrm>
            <a:off x="5090041" y="3997550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solidFill>
                  <a:srgbClr val="18171F"/>
                </a:solidFill>
              </a:rPr>
              <a:t>PDF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47FD8CEB-A37A-50DE-4B00-4FD14C98D77B}"/>
              </a:ext>
            </a:extLst>
          </p:cNvPr>
          <p:cNvSpPr txBox="1"/>
          <p:nvPr/>
        </p:nvSpPr>
        <p:spPr>
          <a:xfrm>
            <a:off x="9552344" y="4862382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solidFill>
                  <a:srgbClr val="18171F"/>
                </a:solidFill>
              </a:rPr>
              <a:t>PDF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CFC0C027-A452-74E7-A654-76F00CC06096}"/>
              </a:ext>
            </a:extLst>
          </p:cNvPr>
          <p:cNvSpPr txBox="1"/>
          <p:nvPr/>
        </p:nvSpPr>
        <p:spPr>
          <a:xfrm>
            <a:off x="9628544" y="3946698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18171F"/>
                </a:solidFill>
              </a:rPr>
              <a:t>Excel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522C91A0-FA05-B182-9571-F40B063EA29D}"/>
              </a:ext>
            </a:extLst>
          </p:cNvPr>
          <p:cNvSpPr txBox="1"/>
          <p:nvPr/>
        </p:nvSpPr>
        <p:spPr>
          <a:xfrm>
            <a:off x="7470933" y="3997245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18171F"/>
                </a:solidFill>
              </a:rPr>
              <a:t>Excel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296E25E3-D407-9DC7-BCC1-AA8B341A48F1}"/>
              </a:ext>
            </a:extLst>
          </p:cNvPr>
          <p:cNvSpPr txBox="1"/>
          <p:nvPr/>
        </p:nvSpPr>
        <p:spPr>
          <a:xfrm>
            <a:off x="3001778" y="3983000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18171F"/>
                </a:solidFill>
              </a:rPr>
              <a:t>Excel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1F4556A0-0333-1B99-9113-51C79FF924DD}"/>
              </a:ext>
            </a:extLst>
          </p:cNvPr>
          <p:cNvSpPr txBox="1"/>
          <p:nvPr/>
        </p:nvSpPr>
        <p:spPr>
          <a:xfrm>
            <a:off x="5070926" y="3145803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dirty="0">
                <a:solidFill>
                  <a:srgbClr val="18171F"/>
                </a:solidFill>
              </a:rPr>
              <a:t>FAX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E43FDE40-8ECF-B030-ACCA-7142B4FEE9F9}"/>
              </a:ext>
            </a:extLst>
          </p:cNvPr>
          <p:cNvSpPr txBox="1"/>
          <p:nvPr/>
        </p:nvSpPr>
        <p:spPr>
          <a:xfrm>
            <a:off x="7485943" y="3145795"/>
            <a:ext cx="179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solidFill>
                  <a:srgbClr val="18171F"/>
                </a:solidFill>
              </a:rPr>
              <a:t>WMS</a:t>
            </a:r>
            <a:endParaRPr kumimoji="1" lang="ja-JP" altLang="en-US" dirty="0">
              <a:solidFill>
                <a:srgbClr val="18171F"/>
              </a:solidFill>
            </a:endParaRPr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53EAD37F-327C-3DF9-8D0C-12338A2E882D}"/>
              </a:ext>
            </a:extLst>
          </p:cNvPr>
          <p:cNvSpPr txBox="1"/>
          <p:nvPr/>
        </p:nvSpPr>
        <p:spPr>
          <a:xfrm>
            <a:off x="5303730" y="4663720"/>
            <a:ext cx="1794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dirty="0">
                <a:solidFill>
                  <a:srgbClr val="18171F"/>
                </a:solidFill>
              </a:rPr>
              <a:t>通関</a:t>
            </a:r>
            <a:endParaRPr kumimoji="1" lang="en-US" altLang="ja-JP" dirty="0">
              <a:solidFill>
                <a:srgbClr val="18171F"/>
              </a:solidFill>
            </a:endParaRPr>
          </a:p>
          <a:p>
            <a:pPr algn="ctr"/>
            <a:r>
              <a:rPr kumimoji="1" lang="ja-JP" altLang="en-US" dirty="0">
                <a:solidFill>
                  <a:srgbClr val="18171F"/>
                </a:solidFill>
              </a:rPr>
              <a:t>システム</a:t>
            </a:r>
          </a:p>
        </p:txBody>
      </p:sp>
    </p:spTree>
    <p:extLst>
      <p:ext uri="{BB962C8B-B14F-4D97-AF65-F5344CB8AC3E}">
        <p14:creationId xmlns:p14="http://schemas.microsoft.com/office/powerpoint/2010/main" val="412331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DC34-EBA1-0A86-8378-EF6F8F7C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48ACFF-93CA-C89F-6A48-F7D67CC5DB8C}"/>
              </a:ext>
            </a:extLst>
          </p:cNvPr>
          <p:cNvSpPr txBox="1"/>
          <p:nvPr/>
        </p:nvSpPr>
        <p:spPr>
          <a:xfrm>
            <a:off x="1175657" y="1034143"/>
            <a:ext cx="677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DX</a:t>
            </a:r>
            <a:r>
              <a:rPr kumimoji="1" lang="ja-JP" altLang="en-US" dirty="0"/>
              <a:t>化の状況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B8FF12-75F0-3F30-A7B0-22A9FA6CD226}"/>
              </a:ext>
            </a:extLst>
          </p:cNvPr>
          <p:cNvSpPr txBox="1"/>
          <p:nvPr/>
        </p:nvSpPr>
        <p:spPr>
          <a:xfrm>
            <a:off x="1589314" y="1861457"/>
            <a:ext cx="8784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物流現場の</a:t>
            </a:r>
            <a:r>
              <a:rPr lang="en-US" altLang="ja-JP" dirty="0"/>
              <a:t>46.4</a:t>
            </a:r>
            <a:r>
              <a:rPr lang="ja-JP" altLang="en-US" dirty="0"/>
              <a:t>％が毎日</a:t>
            </a:r>
            <a:r>
              <a:rPr lang="en-US" altLang="ja-JP" dirty="0"/>
              <a:t>FAX</a:t>
            </a:r>
            <a:r>
              <a:rPr lang="ja-JP" altLang="en-US" dirty="0"/>
              <a:t>を使用など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84F9A6-32A8-29DA-87F3-8C63C69203D0}"/>
              </a:ext>
            </a:extLst>
          </p:cNvPr>
          <p:cNvSpPr txBox="1"/>
          <p:nvPr/>
        </p:nvSpPr>
        <p:spPr>
          <a:xfrm>
            <a:off x="965200" y="4495800"/>
            <a:ext cx="932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/>
              <a:t>現場が</a:t>
            </a:r>
            <a:r>
              <a:rPr kumimoji="1" lang="en-US" altLang="ja-JP" sz="4000" dirty="0"/>
              <a:t>DX</a:t>
            </a:r>
            <a:r>
              <a:rPr kumimoji="1" lang="ja-JP" altLang="en-US" sz="4000" dirty="0"/>
              <a:t>化されているのではなく、</a:t>
            </a:r>
            <a:endParaRPr kumimoji="1" lang="en-US" altLang="ja-JP" sz="4000" dirty="0"/>
          </a:p>
          <a:p>
            <a:pPr algn="ctr"/>
            <a:r>
              <a:rPr lang="ja-JP" altLang="en-US" sz="4000" dirty="0"/>
              <a:t>複数のツールを人間が繋いでいる状態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5115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E0A8-EF57-442C-9795-59899F9A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59069B-5C55-F05E-F58F-33AC0F89F569}"/>
              </a:ext>
            </a:extLst>
          </p:cNvPr>
          <p:cNvSpPr txBox="1"/>
          <p:nvPr/>
        </p:nvSpPr>
        <p:spPr>
          <a:xfrm>
            <a:off x="2209800" y="1284514"/>
            <a:ext cx="4005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現在あるツール</a:t>
            </a:r>
            <a:endParaRPr kumimoji="1" lang="en-US" altLang="ja-JP" dirty="0"/>
          </a:p>
          <a:p>
            <a:r>
              <a:rPr lang="ja-JP" altLang="en-US" dirty="0"/>
              <a:t>既存ソリューションの限界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業務効率化ツールはあるが社内で連携できていない。業界横断でもつながっていない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E840B2-AA93-75F0-ED64-32EE48E5909A}"/>
              </a:ext>
            </a:extLst>
          </p:cNvPr>
          <p:cNvSpPr txBox="1"/>
          <p:nvPr/>
        </p:nvSpPr>
        <p:spPr>
          <a:xfrm>
            <a:off x="1854200" y="3366977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それぞれが個別最適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2EEEEC-05EC-695F-485B-CB4780511709}"/>
              </a:ext>
            </a:extLst>
          </p:cNvPr>
          <p:cNvSpPr txBox="1"/>
          <p:nvPr/>
        </p:nvSpPr>
        <p:spPr>
          <a:xfrm>
            <a:off x="1854200" y="4610100"/>
            <a:ext cx="778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既存システムを置き替える</a:t>
            </a:r>
            <a:r>
              <a:rPr kumimoji="1" lang="en-US" altLang="ja-JP" dirty="0"/>
              <a:t>×</a:t>
            </a:r>
            <a:r>
              <a:rPr kumimoji="1" lang="ja-JP" altLang="en-US" dirty="0"/>
              <a:t>→既存システム上で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が安全に動く共通基盤</a:t>
            </a:r>
          </a:p>
        </p:txBody>
      </p:sp>
    </p:spTree>
    <p:extLst>
      <p:ext uri="{BB962C8B-B14F-4D97-AF65-F5344CB8AC3E}">
        <p14:creationId xmlns:p14="http://schemas.microsoft.com/office/powerpoint/2010/main" val="1058651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C382-346D-FFEA-BE3D-7746E165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5CD2E0-F564-96A6-426D-BD9998D79A6C}"/>
              </a:ext>
            </a:extLst>
          </p:cNvPr>
          <p:cNvSpPr txBox="1"/>
          <p:nvPr/>
        </p:nvSpPr>
        <p:spPr>
          <a:xfrm>
            <a:off x="3026229" y="1719943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プロダクト説明</a:t>
            </a:r>
            <a:r>
              <a:rPr kumimoji="1" lang="en-US" altLang="ja-JP" dirty="0"/>
              <a:t>CAMP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955D01-A55B-121D-8521-813962A966CB}"/>
              </a:ext>
            </a:extLst>
          </p:cNvPr>
          <p:cNvSpPr txBox="1"/>
          <p:nvPr/>
        </p:nvSpPr>
        <p:spPr>
          <a:xfrm>
            <a:off x="2002972" y="3259489"/>
            <a:ext cx="659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キャンプ→拠点 </a:t>
            </a:r>
            <a:r>
              <a:rPr kumimoji="1" lang="en-US" altLang="ja-JP" dirty="0"/>
              <a:t>canon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の実行拠点を作るという意味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6D6252-13FE-F99D-6077-DDCD64016F0E}"/>
              </a:ext>
            </a:extLst>
          </p:cNvPr>
          <p:cNvSpPr txBox="1"/>
          <p:nvPr/>
        </p:nvSpPr>
        <p:spPr>
          <a:xfrm>
            <a:off x="1371600" y="2768600"/>
            <a:ext cx="953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Canon Agentic MCP Platform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2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8A10-DDC6-67E4-06FF-9BFC9670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EABF9D-4111-FBD3-712D-24DDB7FAF58E}"/>
              </a:ext>
            </a:extLst>
          </p:cNvPr>
          <p:cNvSpPr txBox="1"/>
          <p:nvPr/>
        </p:nvSpPr>
        <p:spPr>
          <a:xfrm>
            <a:off x="1545771" y="1741714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MCP</a:t>
            </a:r>
            <a:r>
              <a:rPr kumimoji="1" lang="ja-JP" altLang="en-US" dirty="0"/>
              <a:t>とは？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BE407E6-697E-FE30-1094-A19709F98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7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79B9-F806-80CB-2AB6-6532A2294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951600-3A49-EC92-F96A-4CE07080FF63}"/>
              </a:ext>
            </a:extLst>
          </p:cNvPr>
          <p:cNvSpPr txBox="1"/>
          <p:nvPr/>
        </p:nvSpPr>
        <p:spPr>
          <a:xfrm>
            <a:off x="674914" y="1426029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具体ソリューション説明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9CB496-2E79-AF9B-31E2-9C7282620215}"/>
              </a:ext>
            </a:extLst>
          </p:cNvPr>
          <p:cNvSpPr txBox="1"/>
          <p:nvPr/>
        </p:nvSpPr>
        <p:spPr>
          <a:xfrm>
            <a:off x="2336800" y="2006600"/>
            <a:ext cx="619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遅延発生から荷主説明までを</a:t>
            </a:r>
            <a:r>
              <a:rPr kumimoji="1" lang="en-US" altLang="ja-JP" dirty="0"/>
              <a:t>24</a:t>
            </a:r>
            <a:r>
              <a:rPr kumimoji="1" lang="ja-JP" altLang="en-US" dirty="0"/>
              <a:t>～</a:t>
            </a:r>
            <a:r>
              <a:rPr kumimoji="1" lang="en-US" altLang="ja-JP" dirty="0"/>
              <a:t>72</a:t>
            </a:r>
            <a:r>
              <a:rPr kumimoji="1" lang="ja-JP" altLang="en-US" dirty="0"/>
              <a:t>時間から</a:t>
            </a:r>
            <a:r>
              <a:rPr kumimoji="1" lang="en-US" altLang="ja-JP" dirty="0"/>
              <a:t>2</a:t>
            </a:r>
            <a:r>
              <a:rPr kumimoji="1" lang="ja-JP" altLang="en-US" dirty="0"/>
              <a:t>時間以内へ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DE70F1-4A0A-85D1-B7C7-1683C50F0552}"/>
              </a:ext>
            </a:extLst>
          </p:cNvPr>
          <p:cNvSpPr txBox="1"/>
          <p:nvPr/>
        </p:nvSpPr>
        <p:spPr>
          <a:xfrm>
            <a:off x="1066800" y="264160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</a:t>
            </a:r>
            <a:r>
              <a:rPr kumimoji="1" lang="ja-JP" altLang="en-US" dirty="0"/>
              <a:t>つのソリューション</a:t>
            </a:r>
          </a:p>
        </p:txBody>
      </p:sp>
    </p:spTree>
    <p:extLst>
      <p:ext uri="{BB962C8B-B14F-4D97-AF65-F5344CB8AC3E}">
        <p14:creationId xmlns:p14="http://schemas.microsoft.com/office/powerpoint/2010/main" val="219651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9EA8-8868-3458-7FBD-E56051E5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8697B2-E541-A9FD-3C2E-FFB295F4A2A9}"/>
              </a:ext>
            </a:extLst>
          </p:cNvPr>
          <p:cNvSpPr txBox="1"/>
          <p:nvPr/>
        </p:nvSpPr>
        <p:spPr>
          <a:xfrm>
            <a:off x="2677886" y="1567543"/>
            <a:ext cx="646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説明２（戦略）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1522FA-C971-46B2-159F-54E85F9F40E9}"/>
              </a:ext>
            </a:extLst>
          </p:cNvPr>
          <p:cNvSpPr txBox="1"/>
          <p:nvPr/>
        </p:nvSpPr>
        <p:spPr>
          <a:xfrm>
            <a:off x="3467100" y="32443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戦略の三層構造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66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B4915-10B5-0AE0-915A-793DF17E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8FA1BD-A7CF-A543-C039-59C473A419C7}"/>
              </a:ext>
            </a:extLst>
          </p:cNvPr>
          <p:cNvSpPr txBox="1"/>
          <p:nvPr/>
        </p:nvSpPr>
        <p:spPr>
          <a:xfrm>
            <a:off x="2677886" y="1567543"/>
            <a:ext cx="646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whyMJ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656ACE-9487-953B-6238-4924E1778831}"/>
              </a:ext>
            </a:extLst>
          </p:cNvPr>
          <p:cNvSpPr txBox="1"/>
          <p:nvPr/>
        </p:nvSpPr>
        <p:spPr>
          <a:xfrm>
            <a:off x="1231900" y="2184400"/>
            <a:ext cx="543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３</a:t>
            </a:r>
            <a:r>
              <a:rPr kumimoji="1" lang="en-US" altLang="ja-JP" dirty="0"/>
              <a:t>C</a:t>
            </a:r>
            <a:r>
              <a:rPr kumimoji="1" lang="ja-JP" altLang="en-US" dirty="0"/>
              <a:t>分析図　強みを強調、失敗例も入れておく</a:t>
            </a:r>
          </a:p>
        </p:txBody>
      </p:sp>
    </p:spTree>
    <p:extLst>
      <p:ext uri="{BB962C8B-B14F-4D97-AF65-F5344CB8AC3E}">
        <p14:creationId xmlns:p14="http://schemas.microsoft.com/office/powerpoint/2010/main" val="208129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93F4-EA11-44A6-16ED-C96C7DD4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4F0179-6186-57E7-50E5-1F642AD5E3EF}"/>
              </a:ext>
            </a:extLst>
          </p:cNvPr>
          <p:cNvSpPr txBox="1"/>
          <p:nvPr/>
        </p:nvSpPr>
        <p:spPr>
          <a:xfrm>
            <a:off x="2677886" y="1567543"/>
            <a:ext cx="646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ビジネスモデル全体像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956E15-26D6-7EA4-947B-7967DA78B9B1}"/>
              </a:ext>
            </a:extLst>
          </p:cNvPr>
          <p:cNvSpPr txBox="1"/>
          <p:nvPr/>
        </p:nvSpPr>
        <p:spPr>
          <a:xfrm>
            <a:off x="812800" y="273050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単なる月額性の</a:t>
            </a:r>
            <a:r>
              <a:rPr kumimoji="1" lang="en-US" altLang="ja-JP" dirty="0"/>
              <a:t>SaaS</a:t>
            </a:r>
            <a:r>
              <a:rPr kumimoji="1" lang="ja-JP" altLang="en-US" dirty="0"/>
              <a:t>ではなく、基盤利用、ライブラリ、接続、</a:t>
            </a:r>
            <a:r>
              <a:rPr kumimoji="1" lang="en-US" altLang="ja-JP" dirty="0"/>
              <a:t>BPO</a:t>
            </a:r>
            <a:r>
              <a:rPr kumimoji="1" lang="ja-JP" altLang="en-US" dirty="0"/>
              <a:t>、認証で多面的な収益化</a:t>
            </a:r>
          </a:p>
        </p:txBody>
      </p:sp>
    </p:spTree>
    <p:extLst>
      <p:ext uri="{BB962C8B-B14F-4D97-AF65-F5344CB8AC3E}">
        <p14:creationId xmlns:p14="http://schemas.microsoft.com/office/powerpoint/2010/main" val="284841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94D8-E988-2F07-CDCA-DD6C17C1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0046B30-2284-C76B-F45E-06086055431A}"/>
              </a:ext>
            </a:extLst>
          </p:cNvPr>
          <p:cNvSpPr txBox="1"/>
          <p:nvPr/>
        </p:nvSpPr>
        <p:spPr>
          <a:xfrm>
            <a:off x="2079171" y="15784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他重課金設計</a:t>
            </a:r>
          </a:p>
        </p:txBody>
      </p:sp>
    </p:spTree>
    <p:extLst>
      <p:ext uri="{BB962C8B-B14F-4D97-AF65-F5344CB8AC3E}">
        <p14:creationId xmlns:p14="http://schemas.microsoft.com/office/powerpoint/2010/main" val="406818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B204-EB5B-1B56-2D3D-78525E0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C11E9B-DC0B-6BB0-97FF-E2E93577CF4A}"/>
              </a:ext>
            </a:extLst>
          </p:cNvPr>
          <p:cNvSpPr txBox="1"/>
          <p:nvPr/>
        </p:nvSpPr>
        <p:spPr>
          <a:xfrm>
            <a:off x="2079171" y="1578428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既存事業とのシナジー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74514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855A-E665-84DB-F03C-024933E17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415C26-2A56-2CC5-7CD3-37C84E93297C}"/>
              </a:ext>
            </a:extLst>
          </p:cNvPr>
          <p:cNvSpPr txBox="1"/>
          <p:nvPr/>
        </p:nvSpPr>
        <p:spPr>
          <a:xfrm>
            <a:off x="2079171" y="15784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財務</a:t>
            </a:r>
          </a:p>
        </p:txBody>
      </p:sp>
    </p:spTree>
    <p:extLst>
      <p:ext uri="{BB962C8B-B14F-4D97-AF65-F5344CB8AC3E}">
        <p14:creationId xmlns:p14="http://schemas.microsoft.com/office/powerpoint/2010/main" val="2157601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4ECB-A66E-DB09-51C0-47BDD504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04B525-676F-D08F-A533-8C642D7B7455}"/>
              </a:ext>
            </a:extLst>
          </p:cNvPr>
          <p:cNvSpPr txBox="1"/>
          <p:nvPr/>
        </p:nvSpPr>
        <p:spPr>
          <a:xfrm>
            <a:off x="2079171" y="1578428"/>
            <a:ext cx="248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展望、まとめ</a:t>
            </a:r>
            <a:endParaRPr kumimoji="1" lang="en-US" altLang="ja-JP" dirty="0"/>
          </a:p>
          <a:p>
            <a:r>
              <a:rPr lang="ja-JP" altLang="en-US" dirty="0"/>
              <a:t>三方よしについて復習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3C2F64-7E82-7914-5F77-E18E9B2B9F71}"/>
              </a:ext>
            </a:extLst>
          </p:cNvPr>
          <p:cNvSpPr txBox="1"/>
          <p:nvPr/>
        </p:nvSpPr>
        <p:spPr>
          <a:xfrm>
            <a:off x="2999294" y="3244334"/>
            <a:ext cx="7784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社会：地政学的リスクによる二次被害の軽減、サプライチェーンの強靭化</a:t>
            </a:r>
            <a:endParaRPr kumimoji="1" lang="en-US" altLang="ja-JP" dirty="0"/>
          </a:p>
          <a:p>
            <a:r>
              <a:rPr lang="ja-JP" altLang="en-US" dirty="0"/>
              <a:t>顧客：業務時間削減、判断高速化、情報共有改善</a:t>
            </a:r>
            <a:endParaRPr lang="en-US" altLang="ja-JP" dirty="0"/>
          </a:p>
          <a:p>
            <a:r>
              <a:rPr kumimoji="1" lang="ja-JP" altLang="en-US" dirty="0"/>
              <a:t>自社：新規収益源、既存事業の活用、</a:t>
            </a:r>
            <a:r>
              <a:rPr kumimoji="1" lang="en-US" altLang="ja-JP" dirty="0"/>
              <a:t>AI</a:t>
            </a:r>
            <a:r>
              <a:rPr kumimoji="1" lang="ja-JP" altLang="en-US" dirty="0"/>
              <a:t>時代の競争力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E6CCFE-A249-45D0-144F-5419B84694F0}"/>
              </a:ext>
            </a:extLst>
          </p:cNvPr>
          <p:cNvSpPr txBox="1"/>
          <p:nvPr/>
        </p:nvSpPr>
        <p:spPr>
          <a:xfrm>
            <a:off x="1066800" y="4686300"/>
            <a:ext cx="847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ロードマップ</a:t>
            </a:r>
          </a:p>
        </p:txBody>
      </p:sp>
    </p:spTree>
    <p:extLst>
      <p:ext uri="{BB962C8B-B14F-4D97-AF65-F5344CB8AC3E}">
        <p14:creationId xmlns:p14="http://schemas.microsoft.com/office/powerpoint/2010/main" val="273710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001B9-2436-EE85-8C36-9EA80745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3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40C3-4E6E-3196-7E80-E325FEA79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0D08261-3927-E2E6-6BDC-8CD1F460C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56" y="-1317637"/>
            <a:ext cx="6686550" cy="313372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D3FA0DA-0BB2-6673-F279-CE5334353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80361" y="-1271588"/>
            <a:ext cx="6696075" cy="31337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0ACFA20-BA37-184F-A735-7D920B0C0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97750" y="5287050"/>
            <a:ext cx="6686550" cy="32670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A580ECD-2799-2A08-0DFC-6E88FFFA6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4790" y="1662112"/>
            <a:ext cx="6696075" cy="32670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B9AD248-2BB6-8A0F-4495-D6AB3BAB87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599" y="6741642"/>
            <a:ext cx="12192000" cy="292539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5DD4986-7EE7-44F1-7958-FA4DA619FE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97750" y="8911988"/>
            <a:ext cx="6686550" cy="313372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B2C0F2F-7E47-567C-E9BD-DED86FB873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977" y="0"/>
            <a:ext cx="6696075" cy="313372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29F47DA-CC69-2018-E4E4-B93749221C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3283099"/>
            <a:ext cx="6686550" cy="326707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863EFCDE-87C4-641A-A971-651C38889F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25" y="6920587"/>
            <a:ext cx="6696075" cy="326707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FFE75142-2A55-49E5-8110-AEAD8C848F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6" y="11438236"/>
            <a:ext cx="12192000" cy="292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5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太">
      <a:majorFont>
        <a:latin typeface="Noto Sans JP Black"/>
        <a:ea typeface="Noto Sans JP Black"/>
        <a:cs typeface=""/>
      </a:majorFont>
      <a:minorFont>
        <a:latin typeface="Noto Sans JP Black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418</Words>
  <Application>Microsoft Office PowerPoint</Application>
  <PresentationFormat>ワイド画面</PresentationFormat>
  <Paragraphs>88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Noto Sans JP Black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a3225280</dc:creator>
  <cp:lastModifiedBy>裕翔 市川</cp:lastModifiedBy>
  <cp:revision>4</cp:revision>
  <dcterms:created xsi:type="dcterms:W3CDTF">2026-05-24T01:39:56Z</dcterms:created>
  <dcterms:modified xsi:type="dcterms:W3CDTF">2026-05-24T15:23:24Z</dcterms:modified>
</cp:coreProperties>
</file>